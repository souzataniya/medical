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060d099-a166-898d-989c-f05389987e5f}">
          <p14:sldIdLst>
            <p14:sldId id="256"/>
          </p14:sldIdLst>
        </p14:section>
        <p14:section name="Problem" id="{65d5140b-03e1-382c-1a4e-d5d5d23c975b}">
          <p14:sldIdLst>
            <p14:sldId id="257"/>
          </p14:sldIdLst>
        </p14:section>
        <p14:section name="Solution" id="{13acb699-bbb1-92a4-4555-5e7f1da3692d}">
          <p14:sldIdLst>
            <p14:sldId id="258"/>
            <p14:sldId id="259"/>
          </p14:sldIdLst>
        </p14:section>
        <p14:section name="Impact" id="{853b9277-ff2b-64d3-90e0-522c1b5f407d}">
          <p14:sldIdLst>
            <p14:sldId id="260"/>
            <p14:sldId id="261"/>
            <p14:sldId id="262"/>
            <p14:sldId id="263"/>
          </p14:sldIdLst>
        </p14:section>
        <p14:section name="Technology" id="{833519be-ff74-9524-28a1-92b179a2316b}">
          <p14:sldIdLst>
            <p14:sldId id="264"/>
            <p14:sldId id="265"/>
          </p14:sldIdLst>
        </p14:section>
        <p14:section name="Outlook" id="{fd4f5165-1d76-b50f-dec4-5d6d062e7930}">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E2A3D"/>
                </a:solidFill>
                <a:latin typeface="+mn-lt"/>
              </a:defRPr>
            </a:pPr>
            <a:r>
              <a:rPr sz="1400" b="0" i="0" u="none" strike="noStrike">
                <a:solidFill>
                  <a:srgbClr val="0E2A3D"/>
                </a:solidFill>
                <a:latin typeface="+mn-lt"/>
              </a:rPr>
              <a:t>CO₂ emissions (kg/h)</a:t>
            </a:r>
          </a:p>
        </c:rich>
      </c:tx>
      <c:layout/>
      <c:overlay val="0"/>
    </c:title>
    <c:autoTitleDeleted val="0"/>
    <c:plotArea>
      <c:layout/>
      <c:barChart>
        <c:barDir val="col"/>
        <c:grouping val="clustered"/>
        <c:varyColors val="0"/>
        <c:ser>
          <c:idx val="0"/>
          <c:order val="0"/>
          <c:tx>
            <c:strRef>
              <c:f>Sheet1!$B$1</c:f>
              <c:strCache>
                <c:ptCount val="1"/>
                <c:pt idx="0">
                  <c:v>kg CO₂ per hour</c:v>
                </c:pt>
              </c:strCache>
            </c:strRef>
          </c:tx>
          <c:spPr>
            <a:solidFill>
              <a:srgbClr val="5B6B7A"/>
            </a:solidFill>
            <a:effectLst/>
          </c:spPr>
          <c:invertIfNegative val="0"/>
          <c:dLbls>
            <c:numFmt formatCode="#,##0" sourceLinked="0"/>
            <c:txPr>
              <a:bodyPr/>
              <a:lstStyle/>
              <a:p>
                <a:pPr>
                  <a:defRPr b="0" i="0" strike="noStrike" sz="1300" u="none">
                    <a:solidFill>
                      <a:srgbClr val="0B1220"/>
                    </a:solidFill>
                    <a:latin typeface="+mn-lt"/>
                  </a:defRPr>
                </a:pPr>
              </a:p>
            </c:txPr>
            <c:showLegendKey val="0"/>
            <c:showVal val="1"/>
            <c:showCatName val="0"/>
            <c:showSerName val="0"/>
            <c:showPercent val="0"/>
            <c:showBubbleSize val="0"/>
            <c:showLeaderLines val="0"/>
          </c:dLbls>
          <c:dPt>
            <c:idx val="0"/>
            <c:invertIfNegative val="0"/>
            <c:bubble3D val="0"/>
            <c:spPr>
              <a:solidFill>
                <a:srgbClr val="5B6B7A"/>
              </a:solidFill>
              <a:effectLst/>
            </c:spPr>
          </c:dPt>
          <c:dPt>
            <c:idx val="1"/>
            <c:invertIfNegative val="0"/>
            <c:bubble3D val="0"/>
            <c:spPr>
              <a:solidFill>
                <a:srgbClr val="D9474C"/>
              </a:solidFill>
              <a:effectLst/>
            </c:spPr>
          </c:dPt>
          <c:dPt>
            <c:idx val="2"/>
            <c:invertIfNegative val="0"/>
            <c:bubble3D val="0"/>
            <c:spPr>
              <a:solidFill>
                <a:srgbClr val="1E9E63"/>
              </a:solidFill>
              <a:effectLst/>
            </c:spPr>
          </c:dPt>
          <c:cat>
            <c:multiLvlStrRef>
              <c:f>Sheet1!$A$2:$A$4</c:f>
              <c:multiLvlStrCache>
                <c:ptCount val="3"/>
                <c:lvl>
                  <c:pt idx="0">
                    <c:v>Before incident</c:v>
                  </c:pt>
                  <c:pt idx="1">
                    <c:v>Rejected plan</c:v>
                  </c:pt>
                  <c:pt idx="2">
                    <c:v>Certified plan</c:v>
                  </c:pt>
                </c:lvl>
              </c:multiLvlStrCache>
            </c:multiLvlStrRef>
          </c:cat>
          <c:val>
            <c:numRef>
              <c:f>Sheet1!$B$2:$B$4</c:f>
              <c:numCache>
                <c:formatCode>General</c:formatCode>
                <c:ptCount val="3"/>
                <c:pt idx="0">
                  <c:v>0</c:v>
                </c:pt>
                <c:pt idx="1">
                  <c:v>1889</c:v>
                </c:pt>
                <c:pt idx="2">
                  <c:v>142</c:v>
                </c:pt>
              </c:numCache>
            </c:numRef>
          </c:val>
        </c:ser>
        <c:dLbls>
          <c:numFmt formatCode="#,##0" sourceLinked="0"/>
          <c:txPr>
            <a:bodyPr/>
            <a:lstStyle/>
            <a:p>
              <a:pPr>
                <a:defRPr b="0" i="0" strike="noStrike" sz="1300" u="none">
                  <a:solidFill>
                    <a:srgbClr val="0B122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SynapseGrid helps small island and remote microgrids recover from sudden solar loss without ever dispatching an unsafe plan. Everything shown is a simulation on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might come from a buggy script, a tired operator, or an AI model that sounds confident. The risk is the same: acting on a plan nobody checked against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the AI and the optimizer can only propose. A separate, deterministic checker that shares no code with the planner has the final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proposal, from the optimizer or from outside, goes through the same verifier. Rejections become cuts for the planner. If no safe plan exists, the system reports failure instead of dispatching something unsafe.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deterministic scenario: the same inputs give the same record hashes every time. The verifier computed the 1,278 kW line flow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the prototype's deterministic incident. Before the cloud front the grid ran at about 96 % renewable share; after it, the certified plan uses both batteries and 203 kW of diesel.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honest failure state is part of the safety story: the operator is told exactly how much critical load is at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Scenarios mix solar loss, wind, demand swings, battery levels, line outages and diesel trips; 10 % are deliberately extreme.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Gemma does the part machines are traditionally bad at: reading messy human context. The structured, validated output keeps it from becoming a safety risk. Tested so far against mocked responses; a live run needs an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pinned, open-source dependencies: FastAPI, Pydantic, httpx, Jinja2, OR-Tools. Tests cover overloads, battery limits, recovery, honest failure, malformed input, Gemma timeouts and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items are not built yet. Today SynapseGrid is a simulator; the path to real use runs through real telemetry, better physics and validation with a utility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explicit about scope is deliberate: the whole project is about not overclaiming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idea: AI can help with messy context, but safety comes from an independent, deterministic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E2A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03504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383280"/>
            <a:ext cx="585216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SynapseGrid · Google Cloud AI Builder Cup · Sustainability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rgbClr val="0E2A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6035040" cy="1371600"/>
          </a:xfrm>
          <a:prstGeom prst="rect">
            <a:avLst/>
          </a:prstGeom>
          <a:noFill/>
          <a:ln/>
        </p:spPr>
        <p:txBody>
          <a:bodyPr wrap="square" lIns="0" tIns="0" rIns="0" bIns="0" rtlCol="0" anchor="b"/>
          <a:lstStyle/>
          <a:p>
            <a:pPr algn="l" indent="0" marL="0">
              <a:buNone/>
            </a:pPr>
            <a:r>
              <a:rPr lang="en-US" sz="4800" b="1" dirty="0">
                <a:solidFill>
                  <a:schemeClr val="bg1"/>
                </a:solidFill>
              </a:rPr>
              <a:t>SynapseGrid</a:t>
            </a:r>
            <a:endParaRPr lang="en-US" sz="4800" dirty="0"/>
          </a:p>
        </p:txBody>
      </p:sp>
      <p:sp>
        <p:nvSpPr>
          <p:cNvPr id="3" name="Text 0"/>
          <p:cNvSpPr/>
          <p:nvPr>
            <p:ph idx="101" type="body" hasCustomPrompt="1"/>
          </p:nvPr>
        </p:nvSpPr>
        <p:spPr>
          <a:xfrm>
            <a:off x="640080" y="3383280"/>
            <a:ext cx="5852160" cy="1280160"/>
          </a:xfrm>
          <a:prstGeom prst="rect">
            <a:avLst/>
          </a:prstGeom>
          <a:noFill/>
          <a:ln/>
        </p:spPr>
        <p:txBody>
          <a:bodyPr wrap="square" lIns="0" tIns="0" rIns="0" bIns="0" rtlCol="0" anchor="t"/>
          <a:lstStyle/>
          <a:p>
            <a:pPr algn="l" indent="0" marL="0">
              <a:buNone/>
            </a:pPr>
            <a:r>
              <a:rPr lang="en-US" sz="2000" dirty="0">
                <a:solidFill>
                  <a:schemeClr val="bg2"/>
                </a:solidFill>
              </a:rPr>
              <a:t>Verified renewable-energy dispatch for critical community loads</a:t>
            </a:r>
            <a:endParaRPr lang="en-US" sz="2000" dirty="0"/>
          </a:p>
        </p:txBody>
      </p:sp>
      <p:sp>
        <p:nvSpPr>
          <p:cNvPr id="4" name="event"/>
          <p:cNvSpPr txBox="1"/>
          <p:nvPr/>
        </p:nvSpPr>
        <p:spPr>
          <a:xfrm>
            <a:off x="640080" y="4937760"/>
            <a:ext cx="5852160" cy="365760"/>
          </a:xfrm>
          <a:prstGeom prst="rect">
            <a:avLst/>
          </a:prstGeom>
          <a:noFill/>
          <a:ln/>
        </p:spPr>
        <p:txBody>
          <a:bodyPr wrap="square" lIns="0" tIns="0" rIns="0" bIns="0" rtlCol="0" anchor="t"/>
          <a:lstStyle/>
          <a:p>
            <a:pPr indent="0" marL="0">
              <a:buNone/>
            </a:pPr>
            <a:r>
              <a:rPr lang="en-US" sz="1400" b="1" dirty="0">
                <a:solidFill>
                  <a:schemeClr val="accent2"/>
                </a:solidFill>
              </a:rPr>
              <a:t>Google Cloud AI Builder Cup  ·  Category: Sustainability</a:t>
            </a:r>
            <a:endParaRPr lang="en-US" sz="1400" dirty="0"/>
          </a:p>
        </p:txBody>
      </p:sp>
      <p:sp>
        <p:nvSpPr>
          <p:cNvPr id="5" name="tagline"/>
          <p:cNvSpPr txBox="1"/>
          <p:nvPr/>
        </p:nvSpPr>
        <p:spPr>
          <a:xfrm>
            <a:off x="640080" y="5349240"/>
            <a:ext cx="5852160" cy="548640"/>
          </a:xfrm>
          <a:prstGeom prst="rect">
            <a:avLst/>
          </a:prstGeom>
          <a:noFill/>
          <a:ln/>
        </p:spPr>
        <p:txBody>
          <a:bodyPr wrap="square" lIns="0" tIns="0" rIns="0" bIns="0" rtlCol="0" anchor="t"/>
          <a:lstStyle/>
          <a:p>
            <a:pPr indent="0" marL="0">
              <a:buNone/>
            </a:pPr>
            <a:r>
              <a:rPr lang="en-US" sz="1400" i="1" dirty="0">
                <a:solidFill>
                  <a:schemeClr val="bg2"/>
                </a:solidFill>
              </a:rPr>
              <a:t>Gemma reads the context · Google OR-Tools plans · an independent verifier decides</a:t>
            </a:r>
            <a:endParaRPr lang="en-US" sz="1400" dirty="0"/>
          </a:p>
        </p:txBody>
      </p:sp>
      <p:pic>
        <p:nvPicPr>
          <p:cNvPr id="6" name="dashboard screenshot" descr="/tmp/sgshot/frames/f2.png">    </p:cNvPr>
          <p:cNvPicPr>
            <a:picLocks noChangeAspect="1"/>
          </p:cNvPicPr>
          <p:nvPr/>
        </p:nvPicPr>
        <p:blipFill>
          <a:blip r:embed="rId1"/>
          <a:stretch>
            <a:fillRect/>
          </a:stretch>
        </p:blipFill>
        <p:spPr>
          <a:xfrm>
            <a:off x="6949440" y="1143000"/>
            <a:ext cx="4754880" cy="2971800"/>
          </a:xfrm>
          <a:prstGeom prst="rect">
            <a:avLst/>
          </a:prstGeom>
          <a:effectLst>
            <a:outerShdw sx="100000" sy="100000" kx="0" ky="0" algn="bl" rotWithShape="0" blurRad="152400" dist="50800" dir="5400000">
              <a:srgbClr val="000000">
                <a:alpha val="45000"/>
              </a:srgbClr>
            </a:outerShdw>
          </a:effectLst>
        </p:spPr>
      </p:pic>
      <p:sp>
        <p:nvSpPr>
          <p:cNvPr id="7" name="caption"/>
          <p:cNvSpPr txBox="1"/>
          <p:nvPr/>
        </p:nvSpPr>
        <p:spPr>
          <a:xfrm>
            <a:off x="6949440" y="4206240"/>
            <a:ext cx="4754880" cy="274320"/>
          </a:xfrm>
          <a:prstGeom prst="rect">
            <a:avLst/>
          </a:prstGeom>
          <a:noFill/>
          <a:ln/>
        </p:spPr>
        <p:txBody>
          <a:bodyPr wrap="square" lIns="0" tIns="0" rIns="0" bIns="0" rtlCol="0" anchor="t"/>
          <a:lstStyle/>
          <a:p>
            <a:pPr algn="l" indent="0" marL="0">
              <a:buNone/>
            </a:pPr>
            <a:r>
              <a:rPr lang="en-US" sz="1100" dirty="0">
                <a:solidFill>
                  <a:schemeClr val="bg2"/>
                </a:solidFill>
              </a:rPr>
              <a:t>Prototype dashboard (simulated data)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Solar can vanish in minutes</a:t>
            </a:r>
            <a:endParaRPr lang="en-US" sz="3200" dirty="0"/>
          </a:p>
        </p:txBody>
      </p:sp>
      <p:sp>
        <p:nvSpPr>
          <p:cNvPr id="3" name="intro"/>
          <p:cNvSpPr txBox="1"/>
          <p:nvPr/>
        </p:nvSpPr>
        <p:spPr>
          <a:xfrm>
            <a:off x="548640" y="1280160"/>
            <a:ext cx="11064240" cy="731520"/>
          </a:xfrm>
          <a:prstGeom prst="rect">
            <a:avLst/>
          </a:prstGeom>
          <a:noFill/>
          <a:ln/>
        </p:spPr>
        <p:txBody>
          <a:bodyPr wrap="square" lIns="0" tIns="0" rIns="0" bIns="0" rtlCol="0" anchor="t"/>
          <a:lstStyle/>
          <a:p>
            <a:pPr indent="0" marL="0">
              <a:buNone/>
            </a:pPr>
            <a:r>
              <a:rPr lang="en-US" sz="1600" dirty="0">
                <a:solidFill>
                  <a:schemeClr val="tx1"/>
                </a:solidFill>
              </a:rPr>
              <a:t>Island and remote communities are replacing expensive, polluting diesel with solar and batteries. That makes their small grids cleaner — and more volatile.</a:t>
            </a:r>
            <a:endParaRPr lang="en-US" sz="1600" dirty="0"/>
          </a:p>
        </p:txBody>
      </p:sp>
      <p:sp>
        <p:nvSpPr>
          <p:cNvPr id="4" name="problem card 1"/>
          <p:cNvSpPr/>
          <p:nvPr/>
        </p:nvSpPr>
        <p:spPr>
          <a:xfrm>
            <a:off x="548640" y="2286000"/>
            <a:ext cx="2560320" cy="3566160"/>
          </a:xfrm>
          <a:prstGeom prst="roundRect">
            <a:avLst>
              <a:gd name="adj" fmla="val 4286"/>
            </a:avLst>
          </a:prstGeom>
          <a:solidFill>
            <a:schemeClr val="bg2"/>
          </a:solidFill>
          <a:ln/>
        </p:spPr>
      </p:sp>
      <p:sp>
        <p:nvSpPr>
          <p:cNvPr id="5" name="problem 1 circle"/>
          <p:cNvSpPr/>
          <p:nvPr/>
        </p:nvSpPr>
        <p:spPr>
          <a:xfrm>
            <a:off x="822960" y="2606040"/>
            <a:ext cx="731520" cy="731520"/>
          </a:xfrm>
          <a:prstGeom prst="ellipse">
            <a:avLst/>
          </a:prstGeom>
          <a:solidFill>
            <a:srgbClr val="E8A33A"/>
          </a:solidFill>
          <a:ln/>
        </p:spPr>
      </p:sp>
      <p:pic>
        <p:nvPicPr>
          <p:cNvPr id="6" name="problem 1 icon" descr="preencoded.png">    </p:cNvPr>
          <p:cNvPicPr>
            <a:picLocks noChangeAspect="1"/>
          </p:cNvPicPr>
          <p:nvPr/>
        </p:nvPicPr>
        <p:blipFill>
          <a:blip r:embed="rId1"/>
          <a:stretch>
            <a:fillRect/>
          </a:stretch>
        </p:blipFill>
        <p:spPr>
          <a:xfrm>
            <a:off x="1013155" y="2796235"/>
            <a:ext cx="351130" cy="351130"/>
          </a:xfrm>
          <a:prstGeom prst="rect">
            <a:avLst/>
          </a:prstGeom>
        </p:spPr>
      </p:pic>
      <p:sp>
        <p:nvSpPr>
          <p:cNvPr id="7" name="problem head 1"/>
          <p:cNvSpPr txBox="1"/>
          <p:nvPr/>
        </p:nvSpPr>
        <p:spPr>
          <a:xfrm>
            <a:off x="822960" y="3520440"/>
            <a:ext cx="2057400" cy="640080"/>
          </a:xfrm>
          <a:prstGeom prst="rect">
            <a:avLst/>
          </a:prstGeom>
          <a:noFill/>
          <a:ln/>
        </p:spPr>
        <p:txBody>
          <a:bodyPr wrap="square" lIns="0" tIns="0" rIns="0" bIns="0" rtlCol="0" anchor="t"/>
          <a:lstStyle/>
          <a:p>
            <a:pPr indent="0" marL="0">
              <a:buNone/>
            </a:pPr>
            <a:r>
              <a:rPr lang="en-US" sz="1800" b="1" dirty="0">
                <a:solidFill>
                  <a:schemeClr val="tx2"/>
                </a:solidFill>
              </a:rPr>
              <a:t>Sudden solar loss</a:t>
            </a:r>
            <a:endParaRPr lang="en-US" sz="1800" dirty="0"/>
          </a:p>
        </p:txBody>
      </p:sp>
      <p:sp>
        <p:nvSpPr>
          <p:cNvPr id="8" name="problem body 1"/>
          <p:cNvSpPr txBox="1"/>
          <p:nvPr/>
        </p:nvSpPr>
        <p:spPr>
          <a:xfrm>
            <a:off x="822960" y="4206240"/>
            <a:ext cx="2057400" cy="1463040"/>
          </a:xfrm>
          <a:prstGeom prst="rect">
            <a:avLst/>
          </a:prstGeom>
          <a:noFill/>
          <a:ln/>
        </p:spPr>
        <p:txBody>
          <a:bodyPr wrap="square" lIns="0" tIns="0" rIns="0" bIns="0" rtlCol="0" anchor="t"/>
          <a:lstStyle/>
          <a:p>
            <a:pPr indent="0" marL="0">
              <a:buNone/>
            </a:pPr>
            <a:r>
              <a:rPr lang="en-US" sz="1400" dirty="0">
                <a:solidFill>
                  <a:schemeClr val="tx1"/>
                </a:solidFill>
              </a:rPr>
              <a:t>A cloud front can remove most of a solar farm's output within minutes.</a:t>
            </a:r>
            <a:endParaRPr lang="en-US" sz="1400" dirty="0"/>
          </a:p>
        </p:txBody>
      </p:sp>
      <p:sp>
        <p:nvSpPr>
          <p:cNvPr id="9" name="problem card 2"/>
          <p:cNvSpPr/>
          <p:nvPr/>
        </p:nvSpPr>
        <p:spPr>
          <a:xfrm>
            <a:off x="3383280" y="2286000"/>
            <a:ext cx="2560320" cy="3566160"/>
          </a:xfrm>
          <a:prstGeom prst="roundRect">
            <a:avLst>
              <a:gd name="adj" fmla="val 4286"/>
            </a:avLst>
          </a:prstGeom>
          <a:solidFill>
            <a:schemeClr val="bg2"/>
          </a:solidFill>
          <a:ln/>
        </p:spPr>
      </p:sp>
      <p:sp>
        <p:nvSpPr>
          <p:cNvPr id="10" name="problem 2 circle"/>
          <p:cNvSpPr/>
          <p:nvPr/>
        </p:nvSpPr>
        <p:spPr>
          <a:xfrm>
            <a:off x="3657600" y="2606040"/>
            <a:ext cx="731520" cy="731520"/>
          </a:xfrm>
          <a:prstGeom prst="ellipse">
            <a:avLst/>
          </a:prstGeom>
          <a:solidFill>
            <a:srgbClr val="D9474C"/>
          </a:solidFill>
          <a:ln/>
        </p:spPr>
      </p:sp>
      <p:pic>
        <p:nvPicPr>
          <p:cNvPr id="11" name="problem 2 icon" descr="preencoded.png">    </p:cNvPr>
          <p:cNvPicPr>
            <a:picLocks noChangeAspect="1"/>
          </p:cNvPicPr>
          <p:nvPr/>
        </p:nvPicPr>
        <p:blipFill>
          <a:blip r:embed="rId2"/>
          <a:stretch>
            <a:fillRect/>
          </a:stretch>
        </p:blipFill>
        <p:spPr>
          <a:xfrm>
            <a:off x="3847795" y="2796235"/>
            <a:ext cx="351130" cy="351130"/>
          </a:xfrm>
          <a:prstGeom prst="rect">
            <a:avLst/>
          </a:prstGeom>
        </p:spPr>
      </p:pic>
      <p:sp>
        <p:nvSpPr>
          <p:cNvPr id="12" name="problem head 2"/>
          <p:cNvSpPr txBox="1"/>
          <p:nvPr/>
        </p:nvSpPr>
        <p:spPr>
          <a:xfrm>
            <a:off x="3657600" y="3520440"/>
            <a:ext cx="2057400" cy="640080"/>
          </a:xfrm>
          <a:prstGeom prst="rect">
            <a:avLst/>
          </a:prstGeom>
          <a:noFill/>
          <a:ln/>
        </p:spPr>
        <p:txBody>
          <a:bodyPr wrap="square" lIns="0" tIns="0" rIns="0" bIns="0" rtlCol="0" anchor="t"/>
          <a:lstStyle/>
          <a:p>
            <a:pPr indent="0" marL="0">
              <a:buNone/>
            </a:pPr>
            <a:r>
              <a:rPr lang="en-US" sz="1800" b="1" dirty="0">
                <a:solidFill>
                  <a:schemeClr val="tx2"/>
                </a:solidFill>
              </a:rPr>
              <a:t>Unsafe recovery plans</a:t>
            </a:r>
            <a:endParaRPr lang="en-US" sz="1800" dirty="0"/>
          </a:p>
        </p:txBody>
      </p:sp>
      <p:sp>
        <p:nvSpPr>
          <p:cNvPr id="13" name="problem body 2"/>
          <p:cNvSpPr txBox="1"/>
          <p:nvPr/>
        </p:nvSpPr>
        <p:spPr>
          <a:xfrm>
            <a:off x="3657600" y="4206240"/>
            <a:ext cx="2057400" cy="1463040"/>
          </a:xfrm>
          <a:prstGeom prst="rect">
            <a:avLst/>
          </a:prstGeom>
          <a:noFill/>
          <a:ln/>
        </p:spPr>
        <p:txBody>
          <a:bodyPr wrap="square" lIns="0" tIns="0" rIns="0" bIns="0" rtlCol="0" anchor="t"/>
          <a:lstStyle/>
          <a:p>
            <a:pPr indent="0" marL="0">
              <a:buNone/>
            </a:pPr>
            <a:r>
              <a:rPr lang="en-US" sz="1400" dirty="0">
                <a:solidFill>
                  <a:schemeClr val="tx1"/>
                </a:solidFill>
              </a:rPr>
              <a:t>A rushed plan can overload a power line, exceed a generator's rating, or drain a battery too far.</a:t>
            </a:r>
            <a:endParaRPr lang="en-US" sz="1400" dirty="0"/>
          </a:p>
        </p:txBody>
      </p:sp>
      <p:sp>
        <p:nvSpPr>
          <p:cNvPr id="14" name="problem card 3"/>
          <p:cNvSpPr/>
          <p:nvPr/>
        </p:nvSpPr>
        <p:spPr>
          <a:xfrm>
            <a:off x="6217920" y="2286000"/>
            <a:ext cx="2560320" cy="3566160"/>
          </a:xfrm>
          <a:prstGeom prst="roundRect">
            <a:avLst>
              <a:gd name="adj" fmla="val 4286"/>
            </a:avLst>
          </a:prstGeom>
          <a:solidFill>
            <a:schemeClr val="bg2"/>
          </a:solidFill>
          <a:ln/>
        </p:spPr>
      </p:sp>
      <p:sp>
        <p:nvSpPr>
          <p:cNvPr id="15" name="problem 3 circle"/>
          <p:cNvSpPr/>
          <p:nvPr/>
        </p:nvSpPr>
        <p:spPr>
          <a:xfrm>
            <a:off x="6492240" y="2606040"/>
            <a:ext cx="731520" cy="731520"/>
          </a:xfrm>
          <a:prstGeom prst="ellipse">
            <a:avLst/>
          </a:prstGeom>
          <a:solidFill>
            <a:srgbClr val="0F9D8A"/>
          </a:solidFill>
          <a:ln/>
        </p:spPr>
      </p:sp>
      <p:pic>
        <p:nvPicPr>
          <p:cNvPr id="16" name="problem 3 icon" descr="preencoded.png">    </p:cNvPr>
          <p:cNvPicPr>
            <a:picLocks noChangeAspect="1"/>
          </p:cNvPicPr>
          <p:nvPr/>
        </p:nvPicPr>
        <p:blipFill>
          <a:blip r:embed="rId3"/>
          <a:stretch>
            <a:fillRect/>
          </a:stretch>
        </p:blipFill>
        <p:spPr>
          <a:xfrm>
            <a:off x="6682435" y="2796235"/>
            <a:ext cx="351130" cy="351130"/>
          </a:xfrm>
          <a:prstGeom prst="rect">
            <a:avLst/>
          </a:prstGeom>
        </p:spPr>
      </p:pic>
      <p:sp>
        <p:nvSpPr>
          <p:cNvPr id="17" name="problem head 3"/>
          <p:cNvSpPr txBox="1"/>
          <p:nvPr/>
        </p:nvSpPr>
        <p:spPr>
          <a:xfrm>
            <a:off x="6492240" y="3520440"/>
            <a:ext cx="2057400" cy="640080"/>
          </a:xfrm>
          <a:prstGeom prst="rect">
            <a:avLst/>
          </a:prstGeom>
          <a:noFill/>
          <a:ln/>
        </p:spPr>
        <p:txBody>
          <a:bodyPr wrap="square" lIns="0" tIns="0" rIns="0" bIns="0" rtlCol="0" anchor="t"/>
          <a:lstStyle/>
          <a:p>
            <a:pPr indent="0" marL="0">
              <a:buNone/>
            </a:pPr>
            <a:r>
              <a:rPr lang="en-US" sz="1800" b="1" dirty="0">
                <a:solidFill>
                  <a:schemeClr val="tx2"/>
                </a:solidFill>
              </a:rPr>
              <a:t>Critical loads at risk</a:t>
            </a:r>
            <a:endParaRPr lang="en-US" sz="1800" dirty="0"/>
          </a:p>
        </p:txBody>
      </p:sp>
      <p:sp>
        <p:nvSpPr>
          <p:cNvPr id="18" name="problem body 3"/>
          <p:cNvSpPr txBox="1"/>
          <p:nvPr/>
        </p:nvSpPr>
        <p:spPr>
          <a:xfrm>
            <a:off x="6492240" y="4206240"/>
            <a:ext cx="2057400" cy="1463040"/>
          </a:xfrm>
          <a:prstGeom prst="rect">
            <a:avLst/>
          </a:prstGeom>
          <a:noFill/>
          <a:ln/>
        </p:spPr>
        <p:txBody>
          <a:bodyPr wrap="square" lIns="0" tIns="0" rIns="0" bIns="0" rtlCol="0" anchor="t"/>
          <a:lstStyle/>
          <a:p>
            <a:pPr indent="0" marL="0">
              <a:buNone/>
            </a:pPr>
            <a:r>
              <a:rPr lang="en-US" sz="1400" dirty="0">
                <a:solidFill>
                  <a:schemeClr val="tx1"/>
                </a:solidFill>
              </a:rPr>
              <a:t>The clinic, water pumps and emergency radio must stay powered, whatever else is cut.</a:t>
            </a:r>
            <a:endParaRPr lang="en-US" sz="1400" dirty="0"/>
          </a:p>
        </p:txBody>
      </p:sp>
      <p:sp>
        <p:nvSpPr>
          <p:cNvPr id="19" name="problem card 4"/>
          <p:cNvSpPr/>
          <p:nvPr/>
        </p:nvSpPr>
        <p:spPr>
          <a:xfrm>
            <a:off x="9052560" y="2286000"/>
            <a:ext cx="2560320" cy="3566160"/>
          </a:xfrm>
          <a:prstGeom prst="roundRect">
            <a:avLst>
              <a:gd name="adj" fmla="val 4286"/>
            </a:avLst>
          </a:prstGeom>
          <a:solidFill>
            <a:schemeClr val="bg2"/>
          </a:solidFill>
          <a:ln/>
        </p:spPr>
      </p:sp>
      <p:sp>
        <p:nvSpPr>
          <p:cNvPr id="20" name="problem 4 circle"/>
          <p:cNvSpPr/>
          <p:nvPr/>
        </p:nvSpPr>
        <p:spPr>
          <a:xfrm>
            <a:off x="9326880" y="2606040"/>
            <a:ext cx="731520" cy="731520"/>
          </a:xfrm>
          <a:prstGeom prst="ellipse">
            <a:avLst/>
          </a:prstGeom>
          <a:solidFill>
            <a:srgbClr val="6E5FD0"/>
          </a:solidFill>
          <a:ln/>
        </p:spPr>
      </p:sp>
      <p:pic>
        <p:nvPicPr>
          <p:cNvPr id="21" name="problem 4 icon" descr="preencoded.png">    </p:cNvPr>
          <p:cNvPicPr>
            <a:picLocks noChangeAspect="1"/>
          </p:cNvPicPr>
          <p:nvPr/>
        </p:nvPicPr>
        <p:blipFill>
          <a:blip r:embed="rId4"/>
          <a:stretch>
            <a:fillRect/>
          </a:stretch>
        </p:blipFill>
        <p:spPr>
          <a:xfrm>
            <a:off x="9517075" y="2796235"/>
            <a:ext cx="351130" cy="351130"/>
          </a:xfrm>
          <a:prstGeom prst="rect">
            <a:avLst/>
          </a:prstGeom>
        </p:spPr>
      </p:pic>
      <p:sp>
        <p:nvSpPr>
          <p:cNvPr id="22" name="problem head 4"/>
          <p:cNvSpPr txBox="1"/>
          <p:nvPr/>
        </p:nvSpPr>
        <p:spPr>
          <a:xfrm>
            <a:off x="9326880" y="3520440"/>
            <a:ext cx="2057400" cy="640080"/>
          </a:xfrm>
          <a:prstGeom prst="rect">
            <a:avLst/>
          </a:prstGeom>
          <a:noFill/>
          <a:ln/>
        </p:spPr>
        <p:txBody>
          <a:bodyPr wrap="square" lIns="0" tIns="0" rIns="0" bIns="0" rtlCol="0" anchor="t"/>
          <a:lstStyle/>
          <a:p>
            <a:pPr indent="0" marL="0">
              <a:buNone/>
            </a:pPr>
            <a:r>
              <a:rPr lang="en-US" sz="1800" b="1" dirty="0">
                <a:solidFill>
                  <a:schemeClr val="tx2"/>
                </a:solidFill>
              </a:rPr>
              <a:t>No safety check</a:t>
            </a:r>
            <a:endParaRPr lang="en-US" sz="1800" dirty="0"/>
          </a:p>
        </p:txBody>
      </p:sp>
      <p:sp>
        <p:nvSpPr>
          <p:cNvPr id="23" name="problem body 4"/>
          <p:cNvSpPr txBox="1"/>
          <p:nvPr/>
        </p:nvSpPr>
        <p:spPr>
          <a:xfrm>
            <a:off x="9326880" y="4206240"/>
            <a:ext cx="2057400" cy="1463040"/>
          </a:xfrm>
          <a:prstGeom prst="rect">
            <a:avLst/>
          </a:prstGeom>
          <a:noFill/>
          <a:ln/>
        </p:spPr>
        <p:txBody>
          <a:bodyPr wrap="square" lIns="0" tIns="0" rIns="0" bIns="0" rtlCol="0" anchor="t"/>
          <a:lstStyle/>
          <a:p>
            <a:pPr indent="0" marL="0">
              <a:buNone/>
            </a:pPr>
            <a:r>
              <a:rPr lang="en-US" sz="1400" dirty="0">
                <a:solidFill>
                  <a:schemeClr val="tx1"/>
                </a:solidFill>
              </a:rPr>
              <a:t>Small operators rarely have a tool that checks a plan against physical limits before acting on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Three roles that cannot overrule each other</a:t>
            </a:r>
            <a:endParaRPr lang="en-US" sz="3200" dirty="0"/>
          </a:p>
        </p:txBody>
      </p:sp>
      <p:sp>
        <p:nvSpPr>
          <p:cNvPr id="3" name="principle"/>
          <p:cNvSpPr txBox="1"/>
          <p:nvPr/>
        </p:nvSpPr>
        <p:spPr>
          <a:xfrm>
            <a:off x="548640" y="1234440"/>
            <a:ext cx="11064240" cy="640080"/>
          </a:xfrm>
          <a:prstGeom prst="rect">
            <a:avLst/>
          </a:prstGeom>
          <a:noFill/>
          <a:ln/>
        </p:spPr>
        <p:txBody>
          <a:bodyPr wrap="square" lIns="0" tIns="0" rIns="0" bIns="0" rtlCol="0" anchor="t"/>
          <a:lstStyle/>
          <a:p>
            <a:pPr indent="0" marL="0">
              <a:buNone/>
            </a:pPr>
            <a:r>
              <a:rPr lang="en-US" sz="1600" i="1" dirty="0">
                <a:solidFill>
                  <a:schemeClr val="tx1"/>
                </a:solidFill>
              </a:rPr>
              <a:t>Planners — including AI — may propose. Nothing is dispatched unless an independent check of every modeled physical limit passes.</a:t>
            </a:r>
            <a:endParaRPr lang="en-US" sz="1600" dirty="0"/>
          </a:p>
        </p:txBody>
      </p:sp>
      <p:sp>
        <p:nvSpPr>
          <p:cNvPr id="4" name="role card 1"/>
          <p:cNvSpPr/>
          <p:nvPr/>
        </p:nvSpPr>
        <p:spPr>
          <a:xfrm>
            <a:off x="548640" y="2103120"/>
            <a:ext cx="3474720" cy="3291840"/>
          </a:xfrm>
          <a:prstGeom prst="roundRect">
            <a:avLst>
              <a:gd name="adj" fmla="val 3333"/>
            </a:avLst>
          </a:prstGeom>
          <a:solidFill>
            <a:schemeClr val="bg2"/>
          </a:solidFill>
          <a:ln/>
        </p:spPr>
      </p:sp>
      <p:sp>
        <p:nvSpPr>
          <p:cNvPr id="5" name="role 1 circle"/>
          <p:cNvSpPr/>
          <p:nvPr/>
        </p:nvSpPr>
        <p:spPr>
          <a:xfrm>
            <a:off x="868680" y="2423160"/>
            <a:ext cx="822960" cy="822960"/>
          </a:xfrm>
          <a:prstGeom prst="ellipse">
            <a:avLst/>
          </a:prstGeom>
          <a:solidFill>
            <a:srgbClr val="6E5FD0"/>
          </a:solidFill>
          <a:ln/>
        </p:spPr>
      </p:sp>
      <p:pic>
        <p:nvPicPr>
          <p:cNvPr id="6" name="role 1 icon" descr="preencoded.png">    </p:cNvPr>
          <p:cNvPicPr>
            <a:picLocks noChangeAspect="1"/>
          </p:cNvPicPr>
          <p:nvPr/>
        </p:nvPicPr>
        <p:blipFill>
          <a:blip r:embed="rId1"/>
          <a:stretch>
            <a:fillRect/>
          </a:stretch>
        </p:blipFill>
        <p:spPr>
          <a:xfrm>
            <a:off x="1082650" y="2637130"/>
            <a:ext cx="395021" cy="395021"/>
          </a:xfrm>
          <a:prstGeom prst="rect">
            <a:avLst/>
          </a:prstGeom>
        </p:spPr>
      </p:pic>
      <p:sp>
        <p:nvSpPr>
          <p:cNvPr id="7" name="role head 1"/>
          <p:cNvSpPr txBox="1"/>
          <p:nvPr/>
        </p:nvSpPr>
        <p:spPr>
          <a:xfrm>
            <a:off x="1874520" y="2468880"/>
            <a:ext cx="2011680" cy="411480"/>
          </a:xfrm>
          <a:prstGeom prst="rect">
            <a:avLst/>
          </a:prstGeom>
          <a:noFill/>
          <a:ln/>
        </p:spPr>
        <p:txBody>
          <a:bodyPr wrap="square" lIns="0" tIns="0" rIns="0" bIns="0" rtlCol="0" anchor="t"/>
          <a:lstStyle/>
          <a:p>
            <a:pPr indent="0" marL="0">
              <a:buNone/>
            </a:pPr>
            <a:r>
              <a:rPr lang="en-US" sz="2200" b="1" dirty="0">
                <a:solidFill>
                  <a:schemeClr val="tx2"/>
                </a:solidFill>
              </a:rPr>
              <a:t>Understand</a:t>
            </a:r>
            <a:endParaRPr lang="en-US" sz="2200" dirty="0"/>
          </a:p>
        </p:txBody>
      </p:sp>
      <p:sp>
        <p:nvSpPr>
          <p:cNvPr id="8" name="role tech 1"/>
          <p:cNvSpPr txBox="1"/>
          <p:nvPr/>
        </p:nvSpPr>
        <p:spPr>
          <a:xfrm>
            <a:off x="1874520" y="2880360"/>
            <a:ext cx="2011680" cy="320040"/>
          </a:xfrm>
          <a:prstGeom prst="rect">
            <a:avLst/>
          </a:prstGeom>
          <a:noFill/>
          <a:ln/>
        </p:spPr>
        <p:txBody>
          <a:bodyPr wrap="square" lIns="0" tIns="0" rIns="0" bIns="0" rtlCol="0" anchor="t"/>
          <a:lstStyle/>
          <a:p>
            <a:pPr indent="0" marL="0">
              <a:buNone/>
            </a:pPr>
            <a:r>
              <a:rPr lang="en-US" sz="1400" b="1" dirty="0">
                <a:solidFill>
                  <a:schemeClr val="accent4"/>
                </a:solidFill>
              </a:rPr>
              <a:t>Gemma</a:t>
            </a:r>
            <a:endParaRPr lang="en-US" sz="1400" dirty="0"/>
          </a:p>
        </p:txBody>
      </p:sp>
      <p:sp>
        <p:nvSpPr>
          <p:cNvPr id="9" name="role body 1"/>
          <p:cNvSpPr txBox="1"/>
          <p:nvPr/>
        </p:nvSpPr>
        <p:spPr>
          <a:xfrm>
            <a:off x="868680" y="3520440"/>
            <a:ext cx="2834640" cy="2286000"/>
          </a:xfrm>
          <a:prstGeom prst="rect">
            <a:avLst/>
          </a:prstGeom>
          <a:noFill/>
          <a:ln/>
        </p:spPr>
        <p:txBody>
          <a:bodyPr wrap="square" lIns="0" tIns="0" rIns="0" bIns="0" rtlCol="0" anchor="t"/>
          <a:lstStyle/>
          <a:p>
            <a:pPr indent="0" marL="0">
              <a:buNone/>
            </a:pPr>
            <a:r>
              <a:rPr lang="en-US" sz="1500" dirty="0">
                <a:solidFill>
                  <a:schemeClr val="tx1"/>
                </a:solidFill>
              </a:rPr>
              <a:t>Reads the operator's free-text incident note and returns load priorities as JSON. Output is schema-validated and treated as untrusted.</a:t>
            </a:r>
            <a:endParaRPr lang="en-US" sz="1500" dirty="0"/>
          </a:p>
        </p:txBody>
      </p:sp>
      <p:sp>
        <p:nvSpPr>
          <p:cNvPr id="10" name="role card 2"/>
          <p:cNvSpPr/>
          <p:nvPr/>
        </p:nvSpPr>
        <p:spPr>
          <a:xfrm>
            <a:off x="4297680" y="2103120"/>
            <a:ext cx="3474720" cy="3291840"/>
          </a:xfrm>
          <a:prstGeom prst="roundRect">
            <a:avLst>
              <a:gd name="adj" fmla="val 3333"/>
            </a:avLst>
          </a:prstGeom>
          <a:solidFill>
            <a:schemeClr val="bg2"/>
          </a:solidFill>
          <a:ln/>
        </p:spPr>
      </p:sp>
      <p:sp>
        <p:nvSpPr>
          <p:cNvPr id="11" name="role 2 circle"/>
          <p:cNvSpPr/>
          <p:nvPr/>
        </p:nvSpPr>
        <p:spPr>
          <a:xfrm>
            <a:off x="4617720" y="2423160"/>
            <a:ext cx="822960" cy="822960"/>
          </a:xfrm>
          <a:prstGeom prst="ellipse">
            <a:avLst/>
          </a:prstGeom>
          <a:solidFill>
            <a:srgbClr val="0F9D8A"/>
          </a:solidFill>
          <a:ln/>
        </p:spPr>
      </p:sp>
      <p:pic>
        <p:nvPicPr>
          <p:cNvPr id="12" name="role 2 icon" descr="preencoded.png">    </p:cNvPr>
          <p:cNvPicPr>
            <a:picLocks noChangeAspect="1"/>
          </p:cNvPicPr>
          <p:nvPr/>
        </p:nvPicPr>
        <p:blipFill>
          <a:blip r:embed="rId2"/>
          <a:stretch>
            <a:fillRect/>
          </a:stretch>
        </p:blipFill>
        <p:spPr>
          <a:xfrm>
            <a:off x="4831690" y="2637130"/>
            <a:ext cx="395021" cy="395021"/>
          </a:xfrm>
          <a:prstGeom prst="rect">
            <a:avLst/>
          </a:prstGeom>
        </p:spPr>
      </p:pic>
      <p:sp>
        <p:nvSpPr>
          <p:cNvPr id="13" name="role head 2"/>
          <p:cNvSpPr txBox="1"/>
          <p:nvPr/>
        </p:nvSpPr>
        <p:spPr>
          <a:xfrm>
            <a:off x="5623560" y="2468880"/>
            <a:ext cx="2011680" cy="411480"/>
          </a:xfrm>
          <a:prstGeom prst="rect">
            <a:avLst/>
          </a:prstGeom>
          <a:noFill/>
          <a:ln/>
        </p:spPr>
        <p:txBody>
          <a:bodyPr wrap="square" lIns="0" tIns="0" rIns="0" bIns="0" rtlCol="0" anchor="t"/>
          <a:lstStyle/>
          <a:p>
            <a:pPr indent="0" marL="0">
              <a:buNone/>
            </a:pPr>
            <a:r>
              <a:rPr lang="en-US" sz="2200" b="1" dirty="0">
                <a:solidFill>
                  <a:schemeClr val="tx2"/>
                </a:solidFill>
              </a:rPr>
              <a:t>Plan</a:t>
            </a:r>
            <a:endParaRPr lang="en-US" sz="2200" dirty="0"/>
          </a:p>
        </p:txBody>
      </p:sp>
      <p:sp>
        <p:nvSpPr>
          <p:cNvPr id="14" name="role tech 2"/>
          <p:cNvSpPr txBox="1"/>
          <p:nvPr/>
        </p:nvSpPr>
        <p:spPr>
          <a:xfrm>
            <a:off x="5623560" y="2880360"/>
            <a:ext cx="2011680" cy="320040"/>
          </a:xfrm>
          <a:prstGeom prst="rect">
            <a:avLst/>
          </a:prstGeom>
          <a:noFill/>
          <a:ln/>
        </p:spPr>
        <p:txBody>
          <a:bodyPr wrap="square" lIns="0" tIns="0" rIns="0" bIns="0" rtlCol="0" anchor="t"/>
          <a:lstStyle/>
          <a:p>
            <a:pPr indent="0" marL="0">
              <a:buNone/>
            </a:pPr>
            <a:r>
              <a:rPr lang="en-US" sz="1400" b="1" dirty="0">
                <a:solidFill>
                  <a:schemeClr val="accent1"/>
                </a:solidFill>
              </a:rPr>
              <a:t>Google OR-Tools</a:t>
            </a:r>
            <a:endParaRPr lang="en-US" sz="1400" dirty="0"/>
          </a:p>
        </p:txBody>
      </p:sp>
      <p:sp>
        <p:nvSpPr>
          <p:cNvPr id="15" name="role body 2"/>
          <p:cNvSpPr txBox="1"/>
          <p:nvPr/>
        </p:nvSpPr>
        <p:spPr>
          <a:xfrm>
            <a:off x="4617720" y="3520440"/>
            <a:ext cx="2834640" cy="2286000"/>
          </a:xfrm>
          <a:prstGeom prst="rect">
            <a:avLst/>
          </a:prstGeom>
          <a:noFill/>
          <a:ln/>
        </p:spPr>
        <p:txBody>
          <a:bodyPr wrap="square" lIns="0" tIns="0" rIns="0" bIns="0" rtlCol="0" anchor="t"/>
          <a:lstStyle/>
          <a:p>
            <a:pPr indent="0" marL="0">
              <a:buNone/>
            </a:pPr>
            <a:r>
              <a:rPr lang="en-US" sz="1500" dirty="0">
                <a:solidFill>
                  <a:schemeClr val="tx1"/>
                </a:solidFill>
              </a:rPr>
              <a:t>Finds the lowest-cost, lowest-carbon dispatch that balances power at every bus and respects line, battery and generator limits. Critical loads always served.</a:t>
            </a:r>
            <a:endParaRPr lang="en-US" sz="1500" dirty="0"/>
          </a:p>
        </p:txBody>
      </p:sp>
      <p:sp>
        <p:nvSpPr>
          <p:cNvPr id="16" name="role card 3"/>
          <p:cNvSpPr/>
          <p:nvPr/>
        </p:nvSpPr>
        <p:spPr>
          <a:xfrm>
            <a:off x="8046720" y="2103120"/>
            <a:ext cx="3474720" cy="3291840"/>
          </a:xfrm>
          <a:prstGeom prst="roundRect">
            <a:avLst>
              <a:gd name="adj" fmla="val 3333"/>
            </a:avLst>
          </a:prstGeom>
          <a:solidFill>
            <a:schemeClr val="bg2"/>
          </a:solidFill>
          <a:ln/>
        </p:spPr>
      </p:sp>
      <p:sp>
        <p:nvSpPr>
          <p:cNvPr id="17" name="role 3 circle"/>
          <p:cNvSpPr/>
          <p:nvPr/>
        </p:nvSpPr>
        <p:spPr>
          <a:xfrm>
            <a:off x="8366760" y="2423160"/>
            <a:ext cx="822960" cy="822960"/>
          </a:xfrm>
          <a:prstGeom prst="ellipse">
            <a:avLst/>
          </a:prstGeom>
          <a:solidFill>
            <a:srgbClr val="0E2A3D"/>
          </a:solidFill>
          <a:ln/>
        </p:spPr>
      </p:sp>
      <p:pic>
        <p:nvPicPr>
          <p:cNvPr id="18" name="role 3 icon" descr="preencoded.png">    </p:cNvPr>
          <p:cNvPicPr>
            <a:picLocks noChangeAspect="1"/>
          </p:cNvPicPr>
          <p:nvPr/>
        </p:nvPicPr>
        <p:blipFill>
          <a:blip r:embed="rId3"/>
          <a:stretch>
            <a:fillRect/>
          </a:stretch>
        </p:blipFill>
        <p:spPr>
          <a:xfrm>
            <a:off x="8580730" y="2637130"/>
            <a:ext cx="395021" cy="395021"/>
          </a:xfrm>
          <a:prstGeom prst="rect">
            <a:avLst/>
          </a:prstGeom>
        </p:spPr>
      </p:pic>
      <p:sp>
        <p:nvSpPr>
          <p:cNvPr id="19" name="role head 3"/>
          <p:cNvSpPr txBox="1"/>
          <p:nvPr/>
        </p:nvSpPr>
        <p:spPr>
          <a:xfrm>
            <a:off x="9372600" y="2468880"/>
            <a:ext cx="2011680" cy="411480"/>
          </a:xfrm>
          <a:prstGeom prst="rect">
            <a:avLst/>
          </a:prstGeom>
          <a:noFill/>
          <a:ln/>
        </p:spPr>
        <p:txBody>
          <a:bodyPr wrap="square" lIns="0" tIns="0" rIns="0" bIns="0" rtlCol="0" anchor="t"/>
          <a:lstStyle/>
          <a:p>
            <a:pPr indent="0" marL="0">
              <a:buNone/>
            </a:pPr>
            <a:r>
              <a:rPr lang="en-US" sz="2200" b="1" dirty="0">
                <a:solidFill>
                  <a:schemeClr val="tx2"/>
                </a:solidFill>
              </a:rPr>
              <a:t>Decide</a:t>
            </a:r>
            <a:endParaRPr lang="en-US" sz="2200" dirty="0"/>
          </a:p>
        </p:txBody>
      </p:sp>
      <p:sp>
        <p:nvSpPr>
          <p:cNvPr id="20" name="role tech 3"/>
          <p:cNvSpPr txBox="1"/>
          <p:nvPr/>
        </p:nvSpPr>
        <p:spPr>
          <a:xfrm>
            <a:off x="9372600" y="2880360"/>
            <a:ext cx="2011680" cy="320040"/>
          </a:xfrm>
          <a:prstGeom prst="rect">
            <a:avLst/>
          </a:prstGeom>
          <a:noFill/>
          <a:ln/>
        </p:spPr>
        <p:txBody>
          <a:bodyPr wrap="square" lIns="0" tIns="0" rIns="0" bIns="0" rtlCol="0" anchor="t"/>
          <a:lstStyle/>
          <a:p>
            <a:pPr indent="0" marL="0">
              <a:buNone/>
            </a:pPr>
            <a:r>
              <a:rPr lang="en-US" sz="1400" b="1" dirty="0">
                <a:solidFill>
                  <a:schemeClr val="accent5"/>
                </a:solidFill>
              </a:rPr>
              <a:t>Independent verifier</a:t>
            </a:r>
            <a:endParaRPr lang="en-US" sz="1400" dirty="0"/>
          </a:p>
        </p:txBody>
      </p:sp>
      <p:sp>
        <p:nvSpPr>
          <p:cNvPr id="21" name="role body 3"/>
          <p:cNvSpPr txBox="1"/>
          <p:nvPr/>
        </p:nvSpPr>
        <p:spPr>
          <a:xfrm>
            <a:off x="8366760" y="3520440"/>
            <a:ext cx="2834640" cy="2286000"/>
          </a:xfrm>
          <a:prstGeom prst="rect">
            <a:avLst/>
          </a:prstGeom>
          <a:noFill/>
          <a:ln/>
        </p:spPr>
        <p:txBody>
          <a:bodyPr wrap="square" lIns="0" tIns="0" rIns="0" bIns="0" rtlCol="0" anchor="t"/>
          <a:lstStyle/>
          <a:p>
            <a:pPr indent="0" marL="0">
              <a:buNone/>
            </a:pPr>
            <a:r>
              <a:rPr lang="en-US" sz="1500" dirty="0">
                <a:solidFill>
                  <a:schemeClr val="tx1"/>
                </a:solidFill>
              </a:rPr>
              <a:t>Recomputes the physics from scratch and approves or rejects every proposal. Rejections go back to the planner with exact violations (max 4 tries).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How one recovery works</a:t>
            </a:r>
            <a:endParaRPr lang="en-US" sz="3200" dirty="0"/>
          </a:p>
        </p:txBody>
      </p:sp>
      <p:sp>
        <p:nvSpPr>
          <p:cNvPr id="3" name="telemetry"/>
          <p:cNvSpPr/>
          <p:nvPr/>
        </p:nvSpPr>
        <p:spPr>
          <a:xfrm>
            <a:off x="548640" y="1554480"/>
            <a:ext cx="2194560" cy="822960"/>
          </a:xfrm>
          <a:prstGeom prst="roundRect">
            <a:avLst>
              <a:gd name="adj" fmla="val 11111"/>
            </a:avLst>
          </a:prstGeom>
          <a:solidFill>
            <a:schemeClr val="bg2"/>
          </a:solidFill>
          <a:ln/>
        </p:spPr>
      </p:sp>
      <p:sp>
        <p:nvSpPr>
          <p:cNvPr id="4" name="telemetry text"/>
          <p:cNvSpPr txBox="1"/>
          <p:nvPr/>
        </p:nvSpPr>
        <p:spPr>
          <a:xfrm>
            <a:off x="640080" y="1554480"/>
            <a:ext cx="2011680" cy="822960"/>
          </a:xfrm>
          <a:prstGeom prst="rect">
            <a:avLst/>
          </a:prstGeom>
          <a:noFill/>
          <a:ln/>
        </p:spPr>
        <p:txBody>
          <a:bodyPr wrap="square" lIns="0" tIns="0" rIns="0" bIns="0" rtlCol="0" anchor="ctr"/>
          <a:lstStyle/>
          <a:p>
            <a:pPr algn="ctr" indent="0" marL="0">
              <a:buNone/>
            </a:pPr>
            <a:r>
              <a:rPr lang="en-US" sz="1400" dirty="0">
                <a:solidFill>
                  <a:schemeClr val="tx2"/>
                </a:solidFill>
              </a:rPr>
              <a:t>Simulated telemetry</a:t>
            </a:r>
            <a:endParaRPr lang="en-US" sz="1400" dirty="0"/>
          </a:p>
          <a:p>
            <a:pPr algn="ctr" indent="0" marL="0">
              <a:buNone/>
            </a:pPr>
            <a:r>
              <a:rPr lang="en-US" sz="1400" dirty="0">
                <a:solidFill>
                  <a:schemeClr val="tx2"/>
                </a:solidFill>
              </a:rPr>
              <a:t>(solar, wind, demand, batteries)</a:t>
            </a:r>
            <a:endParaRPr lang="en-US" sz="1400" dirty="0"/>
          </a:p>
        </p:txBody>
      </p:sp>
      <p:sp>
        <p:nvSpPr>
          <p:cNvPr id="5" name="gemma"/>
          <p:cNvSpPr/>
          <p:nvPr/>
        </p:nvSpPr>
        <p:spPr>
          <a:xfrm>
            <a:off x="548640" y="2834640"/>
            <a:ext cx="2194560" cy="822960"/>
          </a:xfrm>
          <a:prstGeom prst="roundRect">
            <a:avLst>
              <a:gd name="adj" fmla="val 11111"/>
            </a:avLst>
          </a:prstGeom>
          <a:solidFill>
            <a:srgbClr val="6E5FD0"/>
          </a:solidFill>
          <a:ln/>
        </p:spPr>
      </p:sp>
      <p:sp>
        <p:nvSpPr>
          <p:cNvPr id="6" name="gemma text"/>
          <p:cNvSpPr txBox="1"/>
          <p:nvPr/>
        </p:nvSpPr>
        <p:spPr>
          <a:xfrm>
            <a:off x="640080" y="2834640"/>
            <a:ext cx="2011680" cy="822960"/>
          </a:xfrm>
          <a:prstGeom prst="rect">
            <a:avLst/>
          </a:prstGeom>
          <a:noFill/>
          <a:ln/>
        </p:spPr>
        <p:txBody>
          <a:bodyPr wrap="square" lIns="0" tIns="0" rIns="0" bIns="0" rtlCol="0" anchor="ctr"/>
          <a:lstStyle/>
          <a:p>
            <a:pPr algn="ctr" indent="0" marL="0">
              <a:buNone/>
            </a:pPr>
            <a:r>
              <a:rPr lang="en-US" sz="1400" b="1" dirty="0">
                <a:solidFill>
                  <a:schemeClr val="bg1"/>
                </a:solidFill>
              </a:rPr>
              <a:t>Operator note</a:t>
            </a:r>
            <a:endParaRPr lang="en-US" sz="1400" dirty="0"/>
          </a:p>
          <a:p>
            <a:pPr algn="ctr" indent="0" marL="0">
              <a:buNone/>
            </a:pPr>
            <a:r>
              <a:rPr lang="en-US" sz="1400" b="1" dirty="0">
                <a:solidFill>
                  <a:schemeClr val="bg1"/>
                </a:solidFill>
              </a:rPr>
              <a:t>→ Gemma priorities</a:t>
            </a:r>
            <a:endParaRPr lang="en-US" sz="1400" dirty="0"/>
          </a:p>
        </p:txBody>
      </p:sp>
      <p:sp>
        <p:nvSpPr>
          <p:cNvPr id="7" name="planner"/>
          <p:cNvSpPr/>
          <p:nvPr/>
        </p:nvSpPr>
        <p:spPr>
          <a:xfrm>
            <a:off x="3383280" y="2194560"/>
            <a:ext cx="2194560" cy="822960"/>
          </a:xfrm>
          <a:prstGeom prst="roundRect">
            <a:avLst>
              <a:gd name="adj" fmla="val 11111"/>
            </a:avLst>
          </a:prstGeom>
          <a:solidFill>
            <a:srgbClr val="0F9D8A"/>
          </a:solidFill>
          <a:ln/>
        </p:spPr>
      </p:sp>
      <p:sp>
        <p:nvSpPr>
          <p:cNvPr id="8" name="planner text"/>
          <p:cNvSpPr txBox="1"/>
          <p:nvPr/>
        </p:nvSpPr>
        <p:spPr>
          <a:xfrm>
            <a:off x="3474720" y="2194560"/>
            <a:ext cx="2011680" cy="822960"/>
          </a:xfrm>
          <a:prstGeom prst="rect">
            <a:avLst/>
          </a:prstGeom>
          <a:noFill/>
          <a:ln/>
        </p:spPr>
        <p:txBody>
          <a:bodyPr wrap="square" lIns="0" tIns="0" rIns="0" bIns="0" rtlCol="0" anchor="ctr"/>
          <a:lstStyle/>
          <a:p>
            <a:pPr algn="ctr" indent="0" marL="0">
              <a:buNone/>
            </a:pPr>
            <a:r>
              <a:rPr lang="en-US" sz="1400" b="1" dirty="0">
                <a:solidFill>
                  <a:schemeClr val="bg1"/>
                </a:solidFill>
              </a:rPr>
              <a:t>OR-Tools planner</a:t>
            </a:r>
            <a:endParaRPr lang="en-US" sz="1400" dirty="0"/>
          </a:p>
        </p:txBody>
      </p:sp>
      <p:sp>
        <p:nvSpPr>
          <p:cNvPr id="9" name="untrusted"/>
          <p:cNvSpPr/>
          <p:nvPr/>
        </p:nvSpPr>
        <p:spPr>
          <a:xfrm>
            <a:off x="3383280" y="4023360"/>
            <a:ext cx="2194560" cy="822960"/>
          </a:xfrm>
          <a:prstGeom prst="roundRect">
            <a:avLst>
              <a:gd name="adj" fmla="val 11111"/>
            </a:avLst>
          </a:prstGeom>
          <a:solidFill>
            <a:srgbClr val="D9474C"/>
          </a:solidFill>
          <a:ln/>
        </p:spPr>
      </p:sp>
      <p:sp>
        <p:nvSpPr>
          <p:cNvPr id="10" name="untrusted text"/>
          <p:cNvSpPr txBox="1"/>
          <p:nvPr/>
        </p:nvSpPr>
        <p:spPr>
          <a:xfrm>
            <a:off x="3474720" y="4023360"/>
            <a:ext cx="2011680" cy="822960"/>
          </a:xfrm>
          <a:prstGeom prst="rect">
            <a:avLst/>
          </a:prstGeom>
          <a:noFill/>
          <a:ln/>
        </p:spPr>
        <p:txBody>
          <a:bodyPr wrap="square" lIns="0" tIns="0" rIns="0" bIns="0" rtlCol="0" anchor="ctr"/>
          <a:lstStyle/>
          <a:p>
            <a:pPr algn="ctr" indent="0" marL="0">
              <a:buNone/>
            </a:pPr>
            <a:r>
              <a:rPr lang="en-US" sz="1400" b="1" dirty="0">
                <a:solidFill>
                  <a:schemeClr val="bg1"/>
                </a:solidFill>
              </a:rPr>
              <a:t>Untrusted proposal</a:t>
            </a:r>
            <a:endParaRPr lang="en-US" sz="1400" dirty="0"/>
          </a:p>
          <a:p>
            <a:pPr algn="ctr" indent="0" marL="0">
              <a:buNone/>
            </a:pPr>
            <a:r>
              <a:rPr lang="en-US" sz="1400" b="1" dirty="0">
                <a:solidFill>
                  <a:schemeClr val="bg1"/>
                </a:solidFill>
              </a:rPr>
              <a:t>(human, script, AI)</a:t>
            </a:r>
            <a:endParaRPr lang="en-US" sz="1400" dirty="0"/>
          </a:p>
        </p:txBody>
      </p:sp>
      <p:sp>
        <p:nvSpPr>
          <p:cNvPr id="11" name="verifier"/>
          <p:cNvSpPr/>
          <p:nvPr/>
        </p:nvSpPr>
        <p:spPr>
          <a:xfrm>
            <a:off x="6309360" y="2743200"/>
            <a:ext cx="2286000" cy="1280160"/>
          </a:xfrm>
          <a:prstGeom prst="roundRect">
            <a:avLst>
              <a:gd name="adj" fmla="val 7143"/>
            </a:avLst>
          </a:prstGeom>
          <a:solidFill>
            <a:srgbClr val="0E2A3D"/>
          </a:solidFill>
          <a:ln/>
        </p:spPr>
      </p:sp>
      <p:sp>
        <p:nvSpPr>
          <p:cNvPr id="12" name="verifier text"/>
          <p:cNvSpPr txBox="1"/>
          <p:nvPr/>
        </p:nvSpPr>
        <p:spPr>
          <a:xfrm>
            <a:off x="6400800" y="2743200"/>
            <a:ext cx="2103120" cy="1280160"/>
          </a:xfrm>
          <a:prstGeom prst="rect">
            <a:avLst/>
          </a:prstGeom>
          <a:noFill/>
          <a:ln/>
        </p:spPr>
        <p:txBody>
          <a:bodyPr wrap="square" lIns="0" tIns="0" rIns="0" bIns="0" rtlCol="0" anchor="ctr"/>
          <a:lstStyle/>
          <a:p>
            <a:pPr algn="ctr" indent="0" marL="0">
              <a:buNone/>
            </a:pPr>
            <a:r>
              <a:rPr lang="en-US" sz="1400" b="1" dirty="0">
                <a:solidFill>
                  <a:schemeClr val="bg1"/>
                </a:solidFill>
              </a:rPr>
              <a:t>Independent verifier</a:t>
            </a:r>
            <a:endParaRPr lang="en-US" sz="1400" dirty="0"/>
          </a:p>
          <a:p>
            <a:pPr algn="ctr" indent="0" marL="0">
              <a:buNone/>
            </a:pPr>
            <a:r>
              <a:rPr lang="en-US" sz="1400" b="1" dirty="0">
                <a:solidFill>
                  <a:schemeClr val="bg1"/>
                </a:solidFill>
              </a:rPr>
              <a:t>recomputes power flow</a:t>
            </a:r>
            <a:endParaRPr lang="en-US" sz="1400" dirty="0"/>
          </a:p>
        </p:txBody>
      </p:sp>
      <p:sp>
        <p:nvSpPr>
          <p:cNvPr id="13" name="certified"/>
          <p:cNvSpPr/>
          <p:nvPr/>
        </p:nvSpPr>
        <p:spPr>
          <a:xfrm>
            <a:off x="9326880" y="1737360"/>
            <a:ext cx="2286000" cy="822960"/>
          </a:xfrm>
          <a:prstGeom prst="roundRect">
            <a:avLst>
              <a:gd name="adj" fmla="val 11111"/>
            </a:avLst>
          </a:prstGeom>
          <a:solidFill>
            <a:srgbClr val="1E9E63"/>
          </a:solidFill>
          <a:ln/>
        </p:spPr>
      </p:sp>
      <p:sp>
        <p:nvSpPr>
          <p:cNvPr id="14" name="certified text"/>
          <p:cNvSpPr txBox="1"/>
          <p:nvPr/>
        </p:nvSpPr>
        <p:spPr>
          <a:xfrm>
            <a:off x="9418320" y="1737360"/>
            <a:ext cx="2103120" cy="822960"/>
          </a:xfrm>
          <a:prstGeom prst="rect">
            <a:avLst/>
          </a:prstGeom>
          <a:noFill/>
          <a:ln/>
        </p:spPr>
        <p:txBody>
          <a:bodyPr wrap="square" lIns="0" tIns="0" rIns="0" bIns="0" rtlCol="0" anchor="ctr"/>
          <a:lstStyle/>
          <a:p>
            <a:pPr algn="ctr" indent="0" marL="0">
              <a:buNone/>
            </a:pPr>
            <a:r>
              <a:rPr lang="en-US" sz="1400" b="1" dirty="0">
                <a:solidFill>
                  <a:schemeClr val="bg1"/>
                </a:solidFill>
              </a:rPr>
              <a:t>✓ Certified → dispatch</a:t>
            </a:r>
            <a:endParaRPr lang="en-US" sz="1400" dirty="0"/>
          </a:p>
          <a:p>
            <a:pPr algn="ctr" indent="0" marL="0">
              <a:buNone/>
            </a:pPr>
            <a:r>
              <a:rPr lang="en-US" sz="1400" b="1" dirty="0">
                <a:solidFill>
                  <a:schemeClr val="bg1"/>
                </a:solidFill>
              </a:rPr>
              <a:t>+ carbon &amp; cost</a:t>
            </a:r>
            <a:endParaRPr lang="en-US" sz="1400" dirty="0"/>
          </a:p>
        </p:txBody>
      </p:sp>
      <p:sp>
        <p:nvSpPr>
          <p:cNvPr id="15" name="failed"/>
          <p:cNvSpPr/>
          <p:nvPr/>
        </p:nvSpPr>
        <p:spPr>
          <a:xfrm>
            <a:off x="9326880" y="2971800"/>
            <a:ext cx="2286000" cy="822960"/>
          </a:xfrm>
          <a:prstGeom prst="roundRect">
            <a:avLst>
              <a:gd name="adj" fmla="val 11111"/>
            </a:avLst>
          </a:prstGeom>
          <a:solidFill>
            <a:srgbClr val="D9474C"/>
          </a:solidFill>
          <a:ln/>
        </p:spPr>
      </p:sp>
      <p:sp>
        <p:nvSpPr>
          <p:cNvPr id="16" name="failed text"/>
          <p:cNvSpPr txBox="1"/>
          <p:nvPr/>
        </p:nvSpPr>
        <p:spPr>
          <a:xfrm>
            <a:off x="9418320" y="2971800"/>
            <a:ext cx="2103120" cy="822960"/>
          </a:xfrm>
          <a:prstGeom prst="rect">
            <a:avLst/>
          </a:prstGeom>
          <a:noFill/>
          <a:ln/>
        </p:spPr>
        <p:txBody>
          <a:bodyPr wrap="square" lIns="0" tIns="0" rIns="0" bIns="0" rtlCol="0" anchor="ctr"/>
          <a:lstStyle/>
          <a:p>
            <a:pPr algn="ctr" indent="0" marL="0">
              <a:buNone/>
            </a:pPr>
            <a:r>
              <a:rPr lang="en-US" sz="1400" b="1" dirty="0">
                <a:solidFill>
                  <a:schemeClr val="bg1"/>
                </a:solidFill>
              </a:rPr>
              <a:t>✗ No safe plan → report FAILED</a:t>
            </a:r>
            <a:endParaRPr lang="en-US" sz="1400" dirty="0"/>
          </a:p>
        </p:txBody>
      </p:sp>
      <p:sp>
        <p:nvSpPr>
          <p:cNvPr id="17" name="audit"/>
          <p:cNvSpPr/>
          <p:nvPr/>
        </p:nvSpPr>
        <p:spPr>
          <a:xfrm>
            <a:off x="9326880" y="4206240"/>
            <a:ext cx="2286000" cy="822960"/>
          </a:xfrm>
          <a:prstGeom prst="roundRect">
            <a:avLst>
              <a:gd name="adj" fmla="val 11111"/>
            </a:avLst>
          </a:prstGeom>
          <a:solidFill>
            <a:schemeClr val="bg2"/>
          </a:solidFill>
          <a:ln/>
        </p:spPr>
      </p:sp>
      <p:sp>
        <p:nvSpPr>
          <p:cNvPr id="18" name="audit text"/>
          <p:cNvSpPr txBox="1"/>
          <p:nvPr/>
        </p:nvSpPr>
        <p:spPr>
          <a:xfrm>
            <a:off x="9418320" y="4206240"/>
            <a:ext cx="2103120" cy="822960"/>
          </a:xfrm>
          <a:prstGeom prst="rect">
            <a:avLst/>
          </a:prstGeom>
          <a:noFill/>
          <a:ln/>
        </p:spPr>
        <p:txBody>
          <a:bodyPr wrap="square" lIns="0" tIns="0" rIns="0" bIns="0" rtlCol="0" anchor="ctr"/>
          <a:lstStyle/>
          <a:p>
            <a:pPr algn="ctr" indent="0" marL="0">
              <a:buNone/>
            </a:pPr>
            <a:r>
              <a:rPr lang="en-US" sz="1400" b="1" dirty="0">
                <a:solidFill>
                  <a:schemeClr val="tx2"/>
                </a:solidFill>
              </a:rPr>
              <a:t>Hashed audit record</a:t>
            </a:r>
            <a:endParaRPr lang="en-US" sz="1400" dirty="0"/>
          </a:p>
          <a:p>
            <a:pPr algn="ctr" indent="0" marL="0">
              <a:buNone/>
            </a:pPr>
            <a:r>
              <a:rPr lang="en-US" sz="1400" b="1" dirty="0">
                <a:solidFill>
                  <a:schemeClr val="tx2"/>
                </a:solidFill>
              </a:rPr>
              <a:t>(replayable)</a:t>
            </a:r>
            <a:endParaRPr lang="en-US" sz="1400" dirty="0"/>
          </a:p>
        </p:txBody>
      </p:sp>
      <p:sp>
        <p:nvSpPr>
          <p:cNvPr id="19" name="a1"/>
          <p:cNvSpPr/>
          <p:nvPr/>
        </p:nvSpPr>
        <p:spPr>
          <a:xfrm>
            <a:off x="2743200" y="1965960"/>
            <a:ext cx="640080" cy="548640"/>
          </a:xfrm>
          <a:prstGeom prst="line">
            <a:avLst/>
          </a:prstGeom>
          <a:noFill/>
          <a:ln w="25400">
            <a:solidFill>
              <a:srgbClr val="5B6B7A"/>
            </a:solidFill>
            <a:prstDash val="solid"/>
            <a:tailEnd type="triangle"/>
          </a:ln>
        </p:spPr>
      </p:sp>
      <p:sp>
        <p:nvSpPr>
          <p:cNvPr id="20" name="a2"/>
          <p:cNvSpPr/>
          <p:nvPr/>
        </p:nvSpPr>
        <p:spPr>
          <a:xfrm>
            <a:off x="2743200" y="3246120"/>
            <a:ext cx="640080" cy="-548640"/>
          </a:xfrm>
          <a:prstGeom prst="line">
            <a:avLst/>
          </a:prstGeom>
          <a:noFill/>
          <a:ln w="25400">
            <a:solidFill>
              <a:srgbClr val="5B6B7A"/>
            </a:solidFill>
            <a:prstDash val="solid"/>
            <a:tailEnd type="triangle"/>
          </a:ln>
        </p:spPr>
      </p:sp>
      <p:sp>
        <p:nvSpPr>
          <p:cNvPr id="21" name="a3"/>
          <p:cNvSpPr/>
          <p:nvPr/>
        </p:nvSpPr>
        <p:spPr>
          <a:xfrm>
            <a:off x="5577840" y="2606040"/>
            <a:ext cx="731520" cy="502920"/>
          </a:xfrm>
          <a:prstGeom prst="line">
            <a:avLst/>
          </a:prstGeom>
          <a:noFill/>
          <a:ln w="25400">
            <a:solidFill>
              <a:srgbClr val="5B6B7A"/>
            </a:solidFill>
            <a:prstDash val="solid"/>
            <a:tailEnd type="triangle"/>
          </a:ln>
        </p:spPr>
      </p:sp>
      <p:sp>
        <p:nvSpPr>
          <p:cNvPr id="22" name="a4"/>
          <p:cNvSpPr/>
          <p:nvPr/>
        </p:nvSpPr>
        <p:spPr>
          <a:xfrm>
            <a:off x="5577840" y="4434840"/>
            <a:ext cx="731520" cy="-685800"/>
          </a:xfrm>
          <a:prstGeom prst="line">
            <a:avLst/>
          </a:prstGeom>
          <a:noFill/>
          <a:ln w="25400">
            <a:solidFill>
              <a:srgbClr val="5B6B7A"/>
            </a:solidFill>
            <a:prstDash val="solid"/>
            <a:tailEnd type="triangle"/>
          </a:ln>
        </p:spPr>
      </p:sp>
      <p:sp>
        <p:nvSpPr>
          <p:cNvPr id="23" name="a5"/>
          <p:cNvSpPr/>
          <p:nvPr/>
        </p:nvSpPr>
        <p:spPr>
          <a:xfrm>
            <a:off x="8595360" y="3017520"/>
            <a:ext cx="731520" cy="-868680"/>
          </a:xfrm>
          <a:prstGeom prst="line">
            <a:avLst/>
          </a:prstGeom>
          <a:noFill/>
          <a:ln w="25400">
            <a:solidFill>
              <a:srgbClr val="5B6B7A"/>
            </a:solidFill>
            <a:prstDash val="solid"/>
            <a:tailEnd type="triangle"/>
          </a:ln>
        </p:spPr>
      </p:sp>
      <p:sp>
        <p:nvSpPr>
          <p:cNvPr id="24" name="a6"/>
          <p:cNvSpPr/>
          <p:nvPr/>
        </p:nvSpPr>
        <p:spPr>
          <a:xfrm>
            <a:off x="8595360" y="3383280"/>
            <a:ext cx="731520" cy="0"/>
          </a:xfrm>
          <a:prstGeom prst="line">
            <a:avLst/>
          </a:prstGeom>
          <a:noFill/>
          <a:ln w="25400">
            <a:solidFill>
              <a:srgbClr val="5B6B7A"/>
            </a:solidFill>
            <a:prstDash val="solid"/>
            <a:tailEnd type="triangle"/>
          </a:ln>
        </p:spPr>
      </p:sp>
      <p:sp>
        <p:nvSpPr>
          <p:cNvPr id="25" name="a7"/>
          <p:cNvSpPr/>
          <p:nvPr/>
        </p:nvSpPr>
        <p:spPr>
          <a:xfrm>
            <a:off x="8595360" y="3749040"/>
            <a:ext cx="731520" cy="868680"/>
          </a:xfrm>
          <a:prstGeom prst="line">
            <a:avLst/>
          </a:prstGeom>
          <a:noFill/>
          <a:ln w="25400">
            <a:solidFill>
              <a:srgbClr val="5B6B7A"/>
            </a:solidFill>
            <a:prstDash val="solid"/>
            <a:tailEnd type="triangle"/>
          </a:ln>
        </p:spPr>
      </p:sp>
      <p:sp>
        <p:nvSpPr>
          <p:cNvPr id="26" name="feedback line"/>
          <p:cNvSpPr/>
          <p:nvPr/>
        </p:nvSpPr>
        <p:spPr>
          <a:xfrm>
            <a:off x="4480560" y="3017520"/>
            <a:ext cx="1828800" cy="548640"/>
          </a:xfrm>
          <a:prstGeom prst="line">
            <a:avLst/>
          </a:prstGeom>
          <a:noFill/>
          <a:ln w="25400">
            <a:solidFill>
              <a:srgbClr val="E8A33A"/>
            </a:solidFill>
            <a:prstDash val="dash"/>
            <a:headEnd type="triangle"/>
          </a:ln>
        </p:spPr>
      </p:sp>
      <p:sp>
        <p:nvSpPr>
          <p:cNvPr id="27" name="feedback label"/>
          <p:cNvSpPr txBox="1"/>
          <p:nvPr/>
        </p:nvSpPr>
        <p:spPr>
          <a:xfrm>
            <a:off x="3383280" y="3429000"/>
            <a:ext cx="2377440" cy="320040"/>
          </a:xfrm>
          <a:prstGeom prst="rect">
            <a:avLst/>
          </a:prstGeom>
          <a:noFill/>
          <a:ln/>
        </p:spPr>
        <p:txBody>
          <a:bodyPr wrap="square" lIns="0" tIns="0" rIns="0" bIns="0" rtlCol="0" anchor="t"/>
          <a:lstStyle/>
          <a:p>
            <a:pPr indent="0" marL="0">
              <a:buNone/>
            </a:pPr>
            <a:r>
              <a:rPr lang="en-US" sz="1100" b="1" dirty="0">
                <a:solidFill>
                  <a:schemeClr val="accent2"/>
                </a:solidFill>
              </a:rPr>
              <a:t>violations → re-plan (≤ 4 tries)</a:t>
            </a:r>
            <a:endParaRPr lang="en-US" sz="1100" dirty="0"/>
          </a:p>
        </p:txBody>
      </p:sp>
      <p:sp>
        <p:nvSpPr>
          <p:cNvPr id="28" name="independence note"/>
          <p:cNvSpPr/>
          <p:nvPr/>
        </p:nvSpPr>
        <p:spPr>
          <a:xfrm>
            <a:off x="548640" y="5349240"/>
            <a:ext cx="11064240" cy="777240"/>
          </a:xfrm>
          <a:prstGeom prst="roundRect">
            <a:avLst>
              <a:gd name="adj" fmla="val 14118"/>
            </a:avLst>
          </a:prstGeom>
          <a:solidFill>
            <a:schemeClr val="bg2"/>
          </a:solidFill>
          <a:ln/>
        </p:spPr>
      </p:sp>
      <p:sp>
        <p:nvSpPr>
          <p:cNvPr id="29" name="independence text"/>
          <p:cNvSpPr txBox="1"/>
          <p:nvPr/>
        </p:nvSpPr>
        <p:spPr>
          <a:xfrm>
            <a:off x="777240" y="5440680"/>
            <a:ext cx="10607040" cy="594360"/>
          </a:xfrm>
          <a:prstGeom prst="rect">
            <a:avLst/>
          </a:prstGeom>
          <a:noFill/>
          <a:ln/>
        </p:spPr>
        <p:txBody>
          <a:bodyPr wrap="square" lIns="0" tIns="0" rIns="0" bIns="0" rtlCol="0" anchor="ctr"/>
          <a:lstStyle/>
          <a:p>
            <a:pPr indent="0" marL="0">
              <a:buNone/>
            </a:pPr>
            <a:r>
              <a:rPr lang="en-US" sz="1400" dirty="0">
                <a:solidFill>
                  <a:schemeClr val="tx1"/>
                </a:solidFill>
              </a:rPr>
              <a:t>Why the verifier is independent: no shared code with the planner, Python standard library only, ignores the planner's claimed line flows, rejects unexpected fields, and recalculates every flow itself.</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Demo: unsafe plan rejected, safe plan certified</a:t>
            </a:r>
            <a:endParaRPr lang="en-US" sz="3200" dirty="0"/>
          </a:p>
        </p:txBody>
      </p:sp>
      <p:pic>
        <p:nvPicPr>
          <p:cNvPr id="3" name="recovery screenshot" descr="/Users/2536365/dev/Medical/docs/images/recovery.png">    </p:cNvPr>
          <p:cNvPicPr>
            <a:picLocks noChangeAspect="1"/>
          </p:cNvPicPr>
          <p:nvPr/>
        </p:nvPicPr>
        <p:blipFill>
          <a:blip r:embed="rId1"/>
          <a:stretch>
            <a:fillRect/>
          </a:stretch>
        </p:blipFill>
        <p:spPr>
          <a:xfrm>
            <a:off x="548640" y="1325880"/>
            <a:ext cx="6675120" cy="4257763"/>
          </a:xfrm>
          <a:prstGeom prst="rect">
            <a:avLst/>
          </a:prstGeom>
          <a:effectLst>
            <a:outerShdw sx="100000" sy="100000" kx="0" ky="0" algn="bl" rotWithShape="0" blurRad="101600" dist="25400" dir="5400000">
              <a:srgbClr val="000000">
                <a:alpha val="25000"/>
              </a:srgbClr>
            </a:outerShdw>
          </a:effectLst>
        </p:spPr>
      </p:pic>
      <p:sp>
        <p:nvSpPr>
          <p:cNvPr id="4" name="step dot 1"/>
          <p:cNvSpPr/>
          <p:nvPr/>
        </p:nvSpPr>
        <p:spPr>
          <a:xfrm>
            <a:off x="7589520" y="1371600"/>
            <a:ext cx="457200" cy="457200"/>
          </a:xfrm>
          <a:prstGeom prst="ellipse">
            <a:avLst/>
          </a:prstGeom>
          <a:solidFill>
            <a:srgbClr val="E8A33A"/>
          </a:solidFill>
          <a:ln/>
        </p:spPr>
      </p:sp>
      <p:sp>
        <p:nvSpPr>
          <p:cNvPr id="5" name="step num 1"/>
          <p:cNvSpPr txBox="1"/>
          <p:nvPr/>
        </p:nvSpPr>
        <p:spPr>
          <a:xfrm>
            <a:off x="7589520" y="1371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step text 1"/>
          <p:cNvSpPr txBox="1"/>
          <p:nvPr/>
        </p:nvSpPr>
        <p:spPr>
          <a:xfrm>
            <a:off x="8229600" y="1325880"/>
            <a:ext cx="3429000" cy="822960"/>
          </a:xfrm>
          <a:prstGeom prst="rect">
            <a:avLst/>
          </a:prstGeom>
          <a:noFill/>
          <a:ln/>
        </p:spPr>
        <p:txBody>
          <a:bodyPr wrap="square" lIns="0" tIns="0" rIns="0" bIns="0" rtlCol="0" anchor="t"/>
          <a:lstStyle/>
          <a:p>
            <a:pPr indent="0" marL="0">
              <a:buNone/>
            </a:pPr>
            <a:r>
              <a:rPr lang="en-US" sz="1400" dirty="0">
                <a:solidFill>
                  <a:schemeClr val="tx1"/>
                </a:solidFill>
              </a:rPr>
              <a:t>Cloud front removes 1,836 kW of solar (−75 %)</a:t>
            </a:r>
            <a:endParaRPr lang="en-US" sz="1400" dirty="0"/>
          </a:p>
        </p:txBody>
      </p:sp>
      <p:sp>
        <p:nvSpPr>
          <p:cNvPr id="7" name="step dot 2"/>
          <p:cNvSpPr/>
          <p:nvPr/>
        </p:nvSpPr>
        <p:spPr>
          <a:xfrm>
            <a:off x="7589520" y="2286000"/>
            <a:ext cx="457200" cy="457200"/>
          </a:xfrm>
          <a:prstGeom prst="ellipse">
            <a:avLst/>
          </a:prstGeom>
          <a:solidFill>
            <a:srgbClr val="D9474C"/>
          </a:solidFill>
          <a:ln/>
        </p:spPr>
      </p:sp>
      <p:sp>
        <p:nvSpPr>
          <p:cNvPr id="8" name="step num 2"/>
          <p:cNvSpPr txBox="1"/>
          <p:nvPr/>
        </p:nvSpPr>
        <p:spPr>
          <a:xfrm>
            <a:off x="75895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step text 2"/>
          <p:cNvSpPr txBox="1"/>
          <p:nvPr/>
        </p:nvSpPr>
        <p:spPr>
          <a:xfrm>
            <a:off x="8229600" y="2240280"/>
            <a:ext cx="3429000" cy="822960"/>
          </a:xfrm>
          <a:prstGeom prst="rect">
            <a:avLst/>
          </a:prstGeom>
          <a:noFill/>
          <a:ln/>
        </p:spPr>
        <p:txBody>
          <a:bodyPr wrap="square" lIns="0" tIns="0" rIns="0" bIns="0" rtlCol="0" anchor="t"/>
          <a:lstStyle/>
          <a:p>
            <a:pPr indent="0" marL="0">
              <a:buNone/>
            </a:pPr>
            <a:r>
              <a:rPr lang="en-US" sz="1400" dirty="0">
                <a:solidFill>
                  <a:schemeClr val="tx1"/>
                </a:solidFill>
              </a:rPr>
              <a:t>Proposal: restart diesel at 2,699 kW and charge the port battery</a:t>
            </a:r>
            <a:endParaRPr lang="en-US" sz="1400" dirty="0"/>
          </a:p>
        </p:txBody>
      </p:sp>
      <p:sp>
        <p:nvSpPr>
          <p:cNvPr id="10" name="step dot 3"/>
          <p:cNvSpPr/>
          <p:nvPr/>
        </p:nvSpPr>
        <p:spPr>
          <a:xfrm>
            <a:off x="7589520" y="3200400"/>
            <a:ext cx="457200" cy="457200"/>
          </a:xfrm>
          <a:prstGeom prst="ellipse">
            <a:avLst/>
          </a:prstGeom>
          <a:solidFill>
            <a:srgbClr val="D9474C"/>
          </a:solidFill>
          <a:ln/>
        </p:spPr>
      </p:sp>
      <p:sp>
        <p:nvSpPr>
          <p:cNvPr id="11" name="step num 3"/>
          <p:cNvSpPr txBox="1"/>
          <p:nvPr/>
        </p:nvSpPr>
        <p:spPr>
          <a:xfrm>
            <a:off x="7589520" y="3200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step text 3"/>
          <p:cNvSpPr txBox="1"/>
          <p:nvPr/>
        </p:nvSpPr>
        <p:spPr>
          <a:xfrm>
            <a:off x="8229600" y="3154680"/>
            <a:ext cx="3429000" cy="822960"/>
          </a:xfrm>
          <a:prstGeom prst="rect">
            <a:avLst/>
          </a:prstGeom>
          <a:noFill/>
          <a:ln/>
        </p:spPr>
        <p:txBody>
          <a:bodyPr wrap="square" lIns="0" tIns="0" rIns="0" bIns="0" rtlCol="0" anchor="t"/>
          <a:lstStyle/>
          <a:p>
            <a:pPr indent="0" marL="0">
              <a:buNone/>
            </a:pPr>
            <a:r>
              <a:rPr lang="en-US" sz="1400" dirty="0">
                <a:solidFill>
                  <a:schemeClr val="tx1"/>
                </a:solidFill>
              </a:rPr>
              <a:t>Rejected — 3 exact violations: generator rating, ramp limit, line L15 at 1,278 of 800 kW</a:t>
            </a:r>
            <a:endParaRPr lang="en-US" sz="1400" dirty="0"/>
          </a:p>
        </p:txBody>
      </p:sp>
      <p:sp>
        <p:nvSpPr>
          <p:cNvPr id="13" name="step dot 4"/>
          <p:cNvSpPr/>
          <p:nvPr/>
        </p:nvSpPr>
        <p:spPr>
          <a:xfrm>
            <a:off x="7589520" y="4114800"/>
            <a:ext cx="457200" cy="457200"/>
          </a:xfrm>
          <a:prstGeom prst="ellipse">
            <a:avLst/>
          </a:prstGeom>
          <a:solidFill>
            <a:srgbClr val="0F9D8A"/>
          </a:solidFill>
          <a:ln/>
        </p:spPr>
      </p:sp>
      <p:sp>
        <p:nvSpPr>
          <p:cNvPr id="14" name="step num 4"/>
          <p:cNvSpPr txBox="1"/>
          <p:nvPr/>
        </p:nvSpPr>
        <p:spPr>
          <a:xfrm>
            <a:off x="7589520" y="41148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step text 4"/>
          <p:cNvSpPr txBox="1"/>
          <p:nvPr/>
        </p:nvSpPr>
        <p:spPr>
          <a:xfrm>
            <a:off x="8229600" y="4069080"/>
            <a:ext cx="3429000" cy="822960"/>
          </a:xfrm>
          <a:prstGeom prst="rect">
            <a:avLst/>
          </a:prstGeom>
          <a:noFill/>
          <a:ln/>
        </p:spPr>
        <p:txBody>
          <a:bodyPr wrap="square" lIns="0" tIns="0" rIns="0" bIns="0" rtlCol="0" anchor="t"/>
          <a:lstStyle/>
          <a:p>
            <a:pPr indent="0" marL="0">
              <a:buNone/>
            </a:pPr>
            <a:r>
              <a:rPr lang="en-US" sz="1400" dirty="0">
                <a:solidFill>
                  <a:schemeClr val="tx1"/>
                </a:solidFill>
              </a:rPr>
              <a:t>OR-Tools re-plans with the violations as cuts</a:t>
            </a:r>
            <a:endParaRPr lang="en-US" sz="1400" dirty="0"/>
          </a:p>
        </p:txBody>
      </p:sp>
      <p:sp>
        <p:nvSpPr>
          <p:cNvPr id="16" name="step dot 5"/>
          <p:cNvSpPr/>
          <p:nvPr/>
        </p:nvSpPr>
        <p:spPr>
          <a:xfrm>
            <a:off x="7589520" y="5029200"/>
            <a:ext cx="457200" cy="457200"/>
          </a:xfrm>
          <a:prstGeom prst="ellipse">
            <a:avLst/>
          </a:prstGeom>
          <a:solidFill>
            <a:srgbClr val="1E9E63"/>
          </a:solidFill>
          <a:ln/>
        </p:spPr>
      </p:sp>
      <p:sp>
        <p:nvSpPr>
          <p:cNvPr id="17" name="step num 5"/>
          <p:cNvSpPr txBox="1"/>
          <p:nvPr/>
        </p:nvSpPr>
        <p:spPr>
          <a:xfrm>
            <a:off x="7589520" y="5029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step text 5"/>
          <p:cNvSpPr txBox="1"/>
          <p:nvPr/>
        </p:nvSpPr>
        <p:spPr>
          <a:xfrm>
            <a:off x="8229600" y="4983480"/>
            <a:ext cx="3429000" cy="822960"/>
          </a:xfrm>
          <a:prstGeom prst="rect">
            <a:avLst/>
          </a:prstGeom>
          <a:noFill/>
          <a:ln/>
        </p:spPr>
        <p:txBody>
          <a:bodyPr wrap="square" lIns="0" tIns="0" rIns="0" bIns="0" rtlCol="0" anchor="t"/>
          <a:lstStyle/>
          <a:p>
            <a:pPr indent="0" marL="0">
              <a:buNone/>
            </a:pPr>
            <a:r>
              <a:rPr lang="en-US" sz="1400" dirty="0">
                <a:solidFill>
                  <a:schemeClr val="tx1"/>
                </a:solidFill>
              </a:rPr>
              <a:t>Certified — 27 / 27 checks pass; audit record replays to the same verdict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Cleaner, cheaper, critical loads kept on</a:t>
            </a:r>
            <a:endParaRPr lang="en-US" sz="3200" dirty="0"/>
          </a:p>
        </p:txBody>
      </p:sp>
      <p:graphicFrame>
        <p:nvGraphicFramePr>
          <p:cNvPr id="3" name="emissions chart" descr=""/>
          <p:cNvGraphicFramePr/>
          <p:nvPr/>
        </p:nvGraphicFramePr>
        <p:xfrm>
          <a:off x="548640" y="137160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4" name="stat card 1"/>
          <p:cNvSpPr/>
          <p:nvPr/>
        </p:nvSpPr>
        <p:spPr>
          <a:xfrm>
            <a:off x="6858000" y="1417320"/>
            <a:ext cx="4754880" cy="1280160"/>
          </a:xfrm>
          <a:prstGeom prst="roundRect">
            <a:avLst>
              <a:gd name="adj" fmla="val 8571"/>
            </a:avLst>
          </a:prstGeom>
          <a:solidFill>
            <a:schemeClr val="bg2"/>
          </a:solidFill>
          <a:ln/>
        </p:spPr>
      </p:sp>
      <p:sp>
        <p:nvSpPr>
          <p:cNvPr id="5" name="stat big 1"/>
          <p:cNvSpPr txBox="1"/>
          <p:nvPr/>
        </p:nvSpPr>
        <p:spPr>
          <a:xfrm>
            <a:off x="7132320" y="1554480"/>
            <a:ext cx="2286000" cy="1005840"/>
          </a:xfrm>
          <a:prstGeom prst="rect">
            <a:avLst/>
          </a:prstGeom>
          <a:noFill/>
          <a:ln/>
        </p:spPr>
        <p:txBody>
          <a:bodyPr wrap="square" lIns="0" tIns="0" rIns="0" bIns="0" rtlCol="0" anchor="ctr"/>
          <a:lstStyle/>
          <a:p>
            <a:pPr indent="0" marL="0">
              <a:buNone/>
            </a:pPr>
            <a:r>
              <a:rPr lang="en-US" sz="4000" b="1" dirty="0">
                <a:solidFill>
                  <a:schemeClr val="accent6"/>
                </a:solidFill>
              </a:rPr>
              <a:t>−1,747</a:t>
            </a:r>
            <a:endParaRPr lang="en-US" sz="4000" dirty="0"/>
          </a:p>
        </p:txBody>
      </p:sp>
      <p:sp>
        <p:nvSpPr>
          <p:cNvPr id="6" name="stat label 1"/>
          <p:cNvSpPr txBox="1"/>
          <p:nvPr/>
        </p:nvSpPr>
        <p:spPr>
          <a:xfrm>
            <a:off x="9418320" y="1600200"/>
            <a:ext cx="2103120" cy="914400"/>
          </a:xfrm>
          <a:prstGeom prst="rect">
            <a:avLst/>
          </a:prstGeom>
          <a:noFill/>
          <a:ln/>
        </p:spPr>
        <p:txBody>
          <a:bodyPr wrap="square" lIns="0" tIns="0" rIns="0" bIns="0" rtlCol="0" anchor="ctr"/>
          <a:lstStyle/>
          <a:p>
            <a:pPr indent="0" marL="0">
              <a:buNone/>
            </a:pPr>
            <a:r>
              <a:rPr lang="en-US" sz="1400" b="1" dirty="0">
                <a:solidFill>
                  <a:schemeClr val="tx1"/>
                </a:solidFill>
              </a:rPr>
              <a:t>kg CO₂/h</a:t>
            </a:r>
            <a:endParaRPr lang="en-US" sz="1400" dirty="0"/>
          </a:p>
          <a:p>
            <a:pPr indent="0" marL="0">
              <a:buNone/>
            </a:pPr>
            <a:r>
              <a:rPr lang="en-US" sz="1400" dirty="0">
                <a:solidFill>
                  <a:schemeClr val="tx1"/>
                </a:solidFill>
              </a:rPr>
              <a:t>certified vs rejected plan</a:t>
            </a:r>
            <a:endParaRPr lang="en-US" sz="1400" dirty="0"/>
          </a:p>
        </p:txBody>
      </p:sp>
      <p:sp>
        <p:nvSpPr>
          <p:cNvPr id="7" name="stat card 2"/>
          <p:cNvSpPr/>
          <p:nvPr/>
        </p:nvSpPr>
        <p:spPr>
          <a:xfrm>
            <a:off x="6858000" y="2880360"/>
            <a:ext cx="4754880" cy="1280160"/>
          </a:xfrm>
          <a:prstGeom prst="roundRect">
            <a:avLst>
              <a:gd name="adj" fmla="val 8571"/>
            </a:avLst>
          </a:prstGeom>
          <a:solidFill>
            <a:schemeClr val="bg2"/>
          </a:solidFill>
          <a:ln/>
        </p:spPr>
      </p:sp>
      <p:sp>
        <p:nvSpPr>
          <p:cNvPr id="8" name="stat big 2"/>
          <p:cNvSpPr txBox="1"/>
          <p:nvPr/>
        </p:nvSpPr>
        <p:spPr>
          <a:xfrm>
            <a:off x="7132320" y="3017520"/>
            <a:ext cx="2286000" cy="1005840"/>
          </a:xfrm>
          <a:prstGeom prst="rect">
            <a:avLst/>
          </a:prstGeom>
          <a:noFill/>
          <a:ln/>
        </p:spPr>
        <p:txBody>
          <a:bodyPr wrap="square" lIns="0" tIns="0" rIns="0" bIns="0" rtlCol="0" anchor="ctr"/>
          <a:lstStyle/>
          <a:p>
            <a:pPr indent="0" marL="0">
              <a:buNone/>
            </a:pPr>
            <a:r>
              <a:rPr lang="en-US" sz="4000" b="1" dirty="0">
                <a:solidFill>
                  <a:schemeClr val="accent1"/>
                </a:solidFill>
              </a:rPr>
              <a:t>$86/h</a:t>
            </a:r>
            <a:endParaRPr lang="en-US" sz="4000" dirty="0"/>
          </a:p>
        </p:txBody>
      </p:sp>
      <p:sp>
        <p:nvSpPr>
          <p:cNvPr id="9" name="stat label 2"/>
          <p:cNvSpPr txBox="1"/>
          <p:nvPr/>
        </p:nvSpPr>
        <p:spPr>
          <a:xfrm>
            <a:off x="9418320" y="3063240"/>
            <a:ext cx="2103120" cy="914400"/>
          </a:xfrm>
          <a:prstGeom prst="rect">
            <a:avLst/>
          </a:prstGeom>
          <a:noFill/>
          <a:ln/>
        </p:spPr>
        <p:txBody>
          <a:bodyPr wrap="square" lIns="0" tIns="0" rIns="0" bIns="0" rtlCol="0" anchor="ctr"/>
          <a:lstStyle/>
          <a:p>
            <a:pPr indent="0" marL="0">
              <a:buNone/>
            </a:pPr>
            <a:r>
              <a:rPr lang="en-US" sz="1400" b="1" dirty="0">
                <a:solidFill>
                  <a:schemeClr val="tx1"/>
                </a:solidFill>
              </a:rPr>
              <a:t>vs $873/h</a:t>
            </a:r>
            <a:endParaRPr lang="en-US" sz="1400" dirty="0"/>
          </a:p>
          <a:p>
            <a:pPr indent="0" marL="0">
              <a:buNone/>
            </a:pPr>
            <a:r>
              <a:rPr lang="en-US" sz="1400" dirty="0">
                <a:solidFill>
                  <a:schemeClr val="tx1"/>
                </a:solidFill>
              </a:rPr>
              <a:t>operating cost, certified vs rejected</a:t>
            </a:r>
            <a:endParaRPr lang="en-US" sz="1400" dirty="0"/>
          </a:p>
        </p:txBody>
      </p:sp>
      <p:sp>
        <p:nvSpPr>
          <p:cNvPr id="10" name="stat card 3"/>
          <p:cNvSpPr/>
          <p:nvPr/>
        </p:nvSpPr>
        <p:spPr>
          <a:xfrm>
            <a:off x="6858000" y="4343400"/>
            <a:ext cx="4754880" cy="1280160"/>
          </a:xfrm>
          <a:prstGeom prst="roundRect">
            <a:avLst>
              <a:gd name="adj" fmla="val 8571"/>
            </a:avLst>
          </a:prstGeom>
          <a:solidFill>
            <a:schemeClr val="bg2"/>
          </a:solidFill>
          <a:ln/>
        </p:spPr>
      </p:sp>
      <p:sp>
        <p:nvSpPr>
          <p:cNvPr id="11" name="stat big 3"/>
          <p:cNvSpPr txBox="1"/>
          <p:nvPr/>
        </p:nvSpPr>
        <p:spPr>
          <a:xfrm>
            <a:off x="7132320" y="4480560"/>
            <a:ext cx="2286000" cy="1005840"/>
          </a:xfrm>
          <a:prstGeom prst="rect">
            <a:avLst/>
          </a:prstGeom>
          <a:noFill/>
          <a:ln/>
        </p:spPr>
        <p:txBody>
          <a:bodyPr wrap="square" lIns="0" tIns="0" rIns="0" bIns="0" rtlCol="0" anchor="ctr"/>
          <a:lstStyle/>
          <a:p>
            <a:pPr indent="0" marL="0">
              <a:buNone/>
            </a:pPr>
            <a:r>
              <a:rPr lang="en-US" sz="4000" b="1" dirty="0">
                <a:solidFill>
                  <a:schemeClr val="tx2"/>
                </a:solidFill>
              </a:rPr>
              <a:t>100 %</a:t>
            </a:r>
            <a:endParaRPr lang="en-US" sz="4000" dirty="0"/>
          </a:p>
        </p:txBody>
      </p:sp>
      <p:sp>
        <p:nvSpPr>
          <p:cNvPr id="12" name="stat label 3"/>
          <p:cNvSpPr txBox="1"/>
          <p:nvPr/>
        </p:nvSpPr>
        <p:spPr>
          <a:xfrm>
            <a:off x="9418320" y="4526280"/>
            <a:ext cx="2103120" cy="914400"/>
          </a:xfrm>
          <a:prstGeom prst="rect">
            <a:avLst/>
          </a:prstGeom>
          <a:noFill/>
          <a:ln/>
        </p:spPr>
        <p:txBody>
          <a:bodyPr wrap="square" lIns="0" tIns="0" rIns="0" bIns="0" rtlCol="0" anchor="ctr"/>
          <a:lstStyle/>
          <a:p>
            <a:pPr indent="0" marL="0">
              <a:buNone/>
            </a:pPr>
            <a:r>
              <a:rPr lang="en-US" sz="1400" b="1" dirty="0">
                <a:solidFill>
                  <a:schemeClr val="tx1"/>
                </a:solidFill>
              </a:rPr>
              <a:t>critical loads</a:t>
            </a:r>
            <a:endParaRPr lang="en-US" sz="1400" dirty="0"/>
          </a:p>
          <a:p>
            <a:pPr indent="0" marL="0">
              <a:buNone/>
            </a:pPr>
            <a:r>
              <a:rPr lang="en-US" sz="1400" dirty="0">
                <a:solidFill>
                  <a:schemeClr val="tx1"/>
                </a:solidFill>
              </a:rPr>
              <a:t>clinic, water and radio stay powered</a:t>
            </a:r>
            <a:endParaRPr lang="en-US" sz="1400" dirty="0"/>
          </a:p>
        </p:txBody>
      </p:sp>
      <p:sp>
        <p:nvSpPr>
          <p:cNvPr id="13" name="assumptions"/>
          <p:cNvSpPr txBox="1"/>
          <p:nvPr/>
        </p:nvSpPr>
        <p:spPr>
          <a:xfrm>
            <a:off x="548640" y="5897880"/>
            <a:ext cx="11064240" cy="411480"/>
          </a:xfrm>
          <a:prstGeom prst="rect">
            <a:avLst/>
          </a:prstGeom>
          <a:noFill/>
          <a:ln/>
        </p:spPr>
        <p:txBody>
          <a:bodyPr wrap="square" lIns="0" tIns="0" rIns="0" bIns="0" rtlCol="0" anchor="t"/>
          <a:lstStyle/>
          <a:p>
            <a:pPr indent="0" marL="0">
              <a:buNone/>
            </a:pPr>
            <a:r>
              <a:rPr lang="en-US" sz="1100" i="1" dirty="0">
                <a:solidFill>
                  <a:schemeClr val="accent5"/>
                </a:solidFill>
              </a:rPr>
              <a:t>Simulated data. Assumptions: diesel 0.70 kg CO₂/kWh and $320/MWh; solar, wind and batteries 0 operational emissions. Comparison is against the rejected plan, not a real-world baseline.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When no safe plan exists, it says so</a:t>
            </a:r>
            <a:endParaRPr lang="en-US" sz="3200" dirty="0"/>
          </a:p>
        </p:txBody>
      </p:sp>
      <p:pic>
        <p:nvPicPr>
          <p:cNvPr id="3" name="failure screenshot" descr="/Users/2536365/dev/Medical/docs/images/failure-state.png">    </p:cNvPr>
          <p:cNvPicPr>
            <a:picLocks noChangeAspect="1"/>
          </p:cNvPicPr>
          <p:nvPr/>
        </p:nvPicPr>
        <p:blipFill>
          <a:blip r:embed="rId1"/>
          <a:stretch>
            <a:fillRect/>
          </a:stretch>
        </p:blipFill>
        <p:spPr>
          <a:xfrm>
            <a:off x="548640" y="1463040"/>
            <a:ext cx="6949440" cy="2288601"/>
          </a:xfrm>
          <a:prstGeom prst="rect">
            <a:avLst/>
          </a:prstGeom>
          <a:effectLst>
            <a:outerShdw sx="100000" sy="100000" kx="0" ky="0" algn="bl" rotWithShape="0" blurRad="101600" dist="25400" dir="5400000">
              <a:srgbClr val="000000">
                <a:alpha val="25000"/>
              </a:srgbClr>
            </a:outerShdw>
          </a:effectLst>
        </p:spPr>
      </p:pic>
      <p:sp>
        <p:nvSpPr>
          <p:cNvPr id="4" name="fail circle"/>
          <p:cNvSpPr/>
          <p:nvPr/>
        </p:nvSpPr>
        <p:spPr>
          <a:xfrm>
            <a:off x="8046720" y="1463040"/>
            <a:ext cx="822960" cy="822960"/>
          </a:xfrm>
          <a:prstGeom prst="ellipse">
            <a:avLst/>
          </a:prstGeom>
          <a:solidFill>
            <a:srgbClr val="D9474C"/>
          </a:solidFill>
          <a:ln/>
        </p:spPr>
      </p:sp>
      <p:pic>
        <p:nvPicPr>
          <p:cNvPr id="5" name="fail icon" descr="preencoded.png">    </p:cNvPr>
          <p:cNvPicPr>
            <a:picLocks noChangeAspect="1"/>
          </p:cNvPicPr>
          <p:nvPr/>
        </p:nvPicPr>
        <p:blipFill>
          <a:blip r:embed="rId2"/>
          <a:stretch>
            <a:fillRect/>
          </a:stretch>
        </p:blipFill>
        <p:spPr>
          <a:xfrm>
            <a:off x="8260690" y="1677010"/>
            <a:ext cx="395021" cy="395021"/>
          </a:xfrm>
          <a:prstGeom prst="rect">
            <a:avLst/>
          </a:prstGeom>
        </p:spPr>
      </p:pic>
      <p:sp>
        <p:nvSpPr>
          <p:cNvPr id="6" name="fail head"/>
          <p:cNvSpPr txBox="1"/>
          <p:nvPr/>
        </p:nvSpPr>
        <p:spPr>
          <a:xfrm>
            <a:off x="9052560" y="1554480"/>
            <a:ext cx="2560320" cy="365760"/>
          </a:xfrm>
          <a:prstGeom prst="rect">
            <a:avLst/>
          </a:prstGeom>
          <a:noFill/>
          <a:ln/>
        </p:spPr>
        <p:txBody>
          <a:bodyPr wrap="square" lIns="0" tIns="0" rIns="0" bIns="0" rtlCol="0" anchor="t"/>
          <a:lstStyle/>
          <a:p>
            <a:pPr indent="0" marL="0">
              <a:buNone/>
            </a:pPr>
            <a:r>
              <a:rPr lang="en-US" sz="2000" b="1" dirty="0">
                <a:solidFill>
                  <a:schemeClr val="tx2"/>
                </a:solidFill>
              </a:rPr>
              <a:t>Stress test</a:t>
            </a:r>
            <a:endParaRPr lang="en-US" sz="2000" dirty="0"/>
          </a:p>
        </p:txBody>
      </p:sp>
      <p:sp>
        <p:nvSpPr>
          <p:cNvPr id="7" name="fail desc"/>
          <p:cNvSpPr txBox="1"/>
          <p:nvPr/>
        </p:nvSpPr>
        <p:spPr>
          <a:xfrm>
            <a:off x="9052560" y="1965960"/>
            <a:ext cx="2560320" cy="731520"/>
          </a:xfrm>
          <a:prstGeom prst="rect">
            <a:avLst/>
          </a:prstGeom>
          <a:noFill/>
          <a:ln/>
        </p:spPr>
        <p:txBody>
          <a:bodyPr wrap="square" lIns="0" tIns="0" rIns="0" bIns="0" rtlCol="0" anchor="t"/>
          <a:lstStyle/>
          <a:p>
            <a:pPr indent="0" marL="0">
              <a:buNone/>
            </a:pPr>
            <a:r>
              <a:rPr lang="en-US" sz="1400" dirty="0">
                <a:solidFill>
                  <a:schemeClr val="tx1"/>
                </a:solidFill>
              </a:rPr>
              <a:t>Night, no wind, batteries at 11 %, diesel genset tripped.</a:t>
            </a:r>
            <a:endParaRPr lang="en-US" sz="1400" dirty="0"/>
          </a:p>
        </p:txBody>
      </p:sp>
      <p:sp>
        <p:nvSpPr>
          <p:cNvPr id="8" name="shortfall"/>
          <p:cNvSpPr txBox="1"/>
          <p:nvPr/>
        </p:nvSpPr>
        <p:spPr>
          <a:xfrm>
            <a:off x="8046720" y="3017520"/>
            <a:ext cx="3566160" cy="822960"/>
          </a:xfrm>
          <a:prstGeom prst="rect">
            <a:avLst/>
          </a:prstGeom>
          <a:noFill/>
          <a:ln/>
        </p:spPr>
        <p:txBody>
          <a:bodyPr wrap="square" lIns="0" tIns="0" rIns="0" bIns="0" rtlCol="0" anchor="t"/>
          <a:lstStyle/>
          <a:p>
            <a:pPr indent="0" marL="0">
              <a:buNone/>
            </a:pPr>
            <a:r>
              <a:rPr lang="en-US" sz="4400" b="1" dirty="0">
                <a:solidFill>
                  <a:schemeClr val="accent3"/>
                </a:solidFill>
              </a:rPr>
              <a:t>564.8 kW</a:t>
            </a:r>
            <a:endParaRPr lang="en-US" sz="4400" dirty="0"/>
          </a:p>
        </p:txBody>
      </p:sp>
      <p:sp>
        <p:nvSpPr>
          <p:cNvPr id="9" name="shortfall label"/>
          <p:cNvSpPr txBox="1"/>
          <p:nvPr/>
        </p:nvSpPr>
        <p:spPr>
          <a:xfrm>
            <a:off x="8046720" y="3840480"/>
            <a:ext cx="3566160" cy="640080"/>
          </a:xfrm>
          <a:prstGeom prst="rect">
            <a:avLst/>
          </a:prstGeom>
          <a:noFill/>
          <a:ln/>
        </p:spPr>
        <p:txBody>
          <a:bodyPr wrap="square" lIns="0" tIns="0" rIns="0" bIns="0" rtlCol="0" anchor="t"/>
          <a:lstStyle/>
          <a:p>
            <a:pPr indent="0" marL="0">
              <a:buNone/>
            </a:pPr>
            <a:r>
              <a:rPr lang="en-US" sz="1400" dirty="0">
                <a:solidFill>
                  <a:schemeClr val="tx1"/>
                </a:solidFill>
              </a:rPr>
              <a:t>critical-load shortfall reported — nothing dispatched</a:t>
            </a:r>
            <a:endParaRPr lang="en-US" sz="1400" dirty="0"/>
          </a:p>
        </p:txBody>
      </p:sp>
      <p:sp>
        <p:nvSpPr>
          <p:cNvPr id="10" name="why card"/>
          <p:cNvSpPr/>
          <p:nvPr/>
        </p:nvSpPr>
        <p:spPr>
          <a:xfrm>
            <a:off x="548640" y="4297680"/>
            <a:ext cx="6949440" cy="1645920"/>
          </a:xfrm>
          <a:prstGeom prst="roundRect">
            <a:avLst>
              <a:gd name="adj" fmla="val 6667"/>
            </a:avLst>
          </a:prstGeom>
          <a:solidFill>
            <a:schemeClr val="bg2"/>
          </a:solidFill>
          <a:ln/>
        </p:spPr>
      </p:sp>
      <p:sp>
        <p:nvSpPr>
          <p:cNvPr id="11" name="why text"/>
          <p:cNvSpPr txBox="1"/>
          <p:nvPr/>
        </p:nvSpPr>
        <p:spPr>
          <a:xfrm>
            <a:off x="777240" y="4434840"/>
            <a:ext cx="6492240" cy="1417320"/>
          </a:xfrm>
          <a:prstGeom prst="rect">
            <a:avLst/>
          </a:prstGeom>
          <a:noFill/>
          <a:ln/>
        </p:spPr>
        <p:txBody>
          <a:bodyPr wrap="square" lIns="0" tIns="0" rIns="0" bIns="0" rtlCol="0" anchor="t"/>
          <a:lstStyle/>
          <a:p>
            <a:pPr indent="0" marL="0">
              <a:buNone/>
            </a:pPr>
            <a:r>
              <a:rPr lang="en-US" sz="1600" b="1" dirty="0">
                <a:solidFill>
                  <a:schemeClr val="tx2"/>
                </a:solidFill>
              </a:rPr>
              <a:t>Why this matters</a:t>
            </a:r>
            <a:endParaRPr lang="en-US" sz="1600" dirty="0"/>
          </a:p>
          <a:p>
            <a:pPr indent="0" marL="0">
              <a:buNone/>
            </a:pPr>
            <a:r>
              <a:rPr lang="en-US" sz="1400" dirty="0">
                <a:solidFill>
                  <a:schemeClr val="tx1"/>
                </a:solidFill>
              </a:rPr>
              <a:t>Critical loads are a hard constraint. The optimizer cannot trade them for cost or carbon, so when they can't be met the problem is infeasible and the system reports failure instead of shedding the clinic or pretending.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Evidence: 300 randomized fault scenarios</a:t>
            </a:r>
            <a:endParaRPr lang="en-US" sz="3200" dirty="0"/>
          </a:p>
        </p:txBody>
      </p:sp>
      <p:sp>
        <p:nvSpPr>
          <p:cNvPr id="3" name="evidence card 1"/>
          <p:cNvSpPr/>
          <p:nvPr/>
        </p:nvSpPr>
        <p:spPr>
          <a:xfrm>
            <a:off x="548640" y="1371600"/>
            <a:ext cx="3474720" cy="1920240"/>
          </a:xfrm>
          <a:prstGeom prst="roundRect">
            <a:avLst>
              <a:gd name="adj" fmla="val 5714"/>
            </a:avLst>
          </a:prstGeom>
          <a:solidFill>
            <a:schemeClr val="bg2"/>
          </a:solidFill>
          <a:ln/>
        </p:spPr>
      </p:sp>
      <p:sp>
        <p:nvSpPr>
          <p:cNvPr id="4" name="evidence big 1"/>
          <p:cNvSpPr txBox="1"/>
          <p:nvPr/>
        </p:nvSpPr>
        <p:spPr>
          <a:xfrm>
            <a:off x="822960" y="1554480"/>
            <a:ext cx="3017520" cy="731520"/>
          </a:xfrm>
          <a:prstGeom prst="rect">
            <a:avLst/>
          </a:prstGeom>
          <a:noFill/>
          <a:ln/>
        </p:spPr>
        <p:txBody>
          <a:bodyPr wrap="square" lIns="0" tIns="0" rIns="0" bIns="0" rtlCol="0" anchor="t"/>
          <a:lstStyle/>
          <a:p>
            <a:pPr indent="0" marL="0">
              <a:buNone/>
            </a:pPr>
            <a:r>
              <a:rPr lang="en-US" sz="3400" b="1" dirty="0">
                <a:solidFill>
                  <a:schemeClr val="accent6"/>
                </a:solidFill>
              </a:rPr>
              <a:t>273 / 273</a:t>
            </a:r>
            <a:endParaRPr lang="en-US" sz="3400" dirty="0"/>
          </a:p>
        </p:txBody>
      </p:sp>
      <p:sp>
        <p:nvSpPr>
          <p:cNvPr id="5" name="evidence label 1"/>
          <p:cNvSpPr txBox="1"/>
          <p:nvPr/>
        </p:nvSpPr>
        <p:spPr>
          <a:xfrm>
            <a:off x="822960" y="2331720"/>
            <a:ext cx="3017520" cy="868680"/>
          </a:xfrm>
          <a:prstGeom prst="rect">
            <a:avLst/>
          </a:prstGeom>
          <a:noFill/>
          <a:ln/>
        </p:spPr>
        <p:txBody>
          <a:bodyPr wrap="square" lIns="0" tIns="0" rIns="0" bIns="0" rtlCol="0" anchor="t"/>
          <a:lstStyle/>
          <a:p>
            <a:pPr indent="0" marL="0">
              <a:buNone/>
            </a:pPr>
            <a:r>
              <a:rPr lang="en-US" sz="1400" dirty="0">
                <a:solidFill>
                  <a:schemeClr val="tx1"/>
                </a:solidFill>
              </a:rPr>
              <a:t>recoverable scenarios reached a certified plan after an unsafe proposal was injected</a:t>
            </a:r>
            <a:endParaRPr lang="en-US" sz="1400" dirty="0"/>
          </a:p>
        </p:txBody>
      </p:sp>
      <p:sp>
        <p:nvSpPr>
          <p:cNvPr id="6" name="evidence card 2"/>
          <p:cNvSpPr/>
          <p:nvPr/>
        </p:nvSpPr>
        <p:spPr>
          <a:xfrm>
            <a:off x="4297680" y="1371600"/>
            <a:ext cx="3474720" cy="1920240"/>
          </a:xfrm>
          <a:prstGeom prst="roundRect">
            <a:avLst>
              <a:gd name="adj" fmla="val 5714"/>
            </a:avLst>
          </a:prstGeom>
          <a:solidFill>
            <a:schemeClr val="bg2"/>
          </a:solidFill>
          <a:ln/>
        </p:spPr>
      </p:sp>
      <p:sp>
        <p:nvSpPr>
          <p:cNvPr id="7" name="evidence big 2"/>
          <p:cNvSpPr txBox="1"/>
          <p:nvPr/>
        </p:nvSpPr>
        <p:spPr>
          <a:xfrm>
            <a:off x="4572000" y="1554480"/>
            <a:ext cx="3017520" cy="731520"/>
          </a:xfrm>
          <a:prstGeom prst="rect">
            <a:avLst/>
          </a:prstGeom>
          <a:noFill/>
          <a:ln/>
        </p:spPr>
        <p:txBody>
          <a:bodyPr wrap="square" lIns="0" tIns="0" rIns="0" bIns="0" rtlCol="0" anchor="t"/>
          <a:lstStyle/>
          <a:p>
            <a:pPr indent="0" marL="0">
              <a:buNone/>
            </a:pPr>
            <a:r>
              <a:rPr lang="en-US" sz="3400" b="1" dirty="0">
                <a:solidFill>
                  <a:schemeClr val="accent1"/>
                </a:solidFill>
              </a:rPr>
              <a:t>27 / 27</a:t>
            </a:r>
            <a:endParaRPr lang="en-US" sz="3400" dirty="0"/>
          </a:p>
        </p:txBody>
      </p:sp>
      <p:sp>
        <p:nvSpPr>
          <p:cNvPr id="8" name="evidence label 2"/>
          <p:cNvSpPr txBox="1"/>
          <p:nvPr/>
        </p:nvSpPr>
        <p:spPr>
          <a:xfrm>
            <a:off x="4572000" y="2331720"/>
            <a:ext cx="3017520" cy="868680"/>
          </a:xfrm>
          <a:prstGeom prst="rect">
            <a:avLst/>
          </a:prstGeom>
          <a:noFill/>
          <a:ln/>
        </p:spPr>
        <p:txBody>
          <a:bodyPr wrap="square" lIns="0" tIns="0" rIns="0" bIns="0" rtlCol="0" anchor="t"/>
          <a:lstStyle/>
          <a:p>
            <a:pPr indent="0" marL="0">
              <a:buNone/>
            </a:pPr>
            <a:r>
              <a:rPr lang="en-US" sz="1400" dirty="0">
                <a:solidFill>
                  <a:schemeClr val="tx1"/>
                </a:solidFill>
              </a:rPr>
              <a:t>impossible scenarios reported as FAILED — never certified</a:t>
            </a:r>
            <a:endParaRPr lang="en-US" sz="1400" dirty="0"/>
          </a:p>
        </p:txBody>
      </p:sp>
      <p:sp>
        <p:nvSpPr>
          <p:cNvPr id="9" name="evidence card 3"/>
          <p:cNvSpPr/>
          <p:nvPr/>
        </p:nvSpPr>
        <p:spPr>
          <a:xfrm>
            <a:off x="8046720" y="1371600"/>
            <a:ext cx="3474720" cy="1920240"/>
          </a:xfrm>
          <a:prstGeom prst="roundRect">
            <a:avLst>
              <a:gd name="adj" fmla="val 5714"/>
            </a:avLst>
          </a:prstGeom>
          <a:solidFill>
            <a:schemeClr val="bg2"/>
          </a:solidFill>
          <a:ln/>
        </p:spPr>
      </p:sp>
      <p:sp>
        <p:nvSpPr>
          <p:cNvPr id="10" name="evidence big 3"/>
          <p:cNvSpPr txBox="1"/>
          <p:nvPr/>
        </p:nvSpPr>
        <p:spPr>
          <a:xfrm>
            <a:off x="8321040" y="1554480"/>
            <a:ext cx="3017520" cy="731520"/>
          </a:xfrm>
          <a:prstGeom prst="rect">
            <a:avLst/>
          </a:prstGeom>
          <a:noFill/>
          <a:ln/>
        </p:spPr>
        <p:txBody>
          <a:bodyPr wrap="square" lIns="0" tIns="0" rIns="0" bIns="0" rtlCol="0" anchor="t"/>
          <a:lstStyle/>
          <a:p>
            <a:pPr indent="0" marL="0">
              <a:buNone/>
            </a:pPr>
            <a:r>
              <a:rPr lang="en-US" sz="3400" b="1" dirty="0">
                <a:solidFill>
                  <a:schemeClr val="tx2"/>
                </a:solidFill>
              </a:rPr>
              <a:t>0</a:t>
            </a:r>
            <a:endParaRPr lang="en-US" sz="3400" dirty="0"/>
          </a:p>
        </p:txBody>
      </p:sp>
      <p:sp>
        <p:nvSpPr>
          <p:cNvPr id="11" name="evidence label 3"/>
          <p:cNvSpPr txBox="1"/>
          <p:nvPr/>
        </p:nvSpPr>
        <p:spPr>
          <a:xfrm>
            <a:off x="8321040" y="2331720"/>
            <a:ext cx="3017520" cy="868680"/>
          </a:xfrm>
          <a:prstGeom prst="rect">
            <a:avLst/>
          </a:prstGeom>
          <a:noFill/>
          <a:ln/>
        </p:spPr>
        <p:txBody>
          <a:bodyPr wrap="square" lIns="0" tIns="0" rIns="0" bIns="0" rtlCol="0" anchor="t"/>
          <a:lstStyle/>
          <a:p>
            <a:pPr indent="0" marL="0">
              <a:buNone/>
            </a:pPr>
            <a:r>
              <a:rPr lang="en-US" sz="1400" dirty="0">
                <a:solidFill>
                  <a:schemeClr val="tx1"/>
                </a:solidFill>
              </a:rPr>
              <a:t>certified plans found unsafe by a second, separately written checker</a:t>
            </a:r>
            <a:endParaRPr lang="en-US" sz="1400" dirty="0"/>
          </a:p>
        </p:txBody>
      </p:sp>
      <p:sp>
        <p:nvSpPr>
          <p:cNvPr id="12" name="evidence card 4"/>
          <p:cNvSpPr/>
          <p:nvPr/>
        </p:nvSpPr>
        <p:spPr>
          <a:xfrm>
            <a:off x="548640" y="3520440"/>
            <a:ext cx="3474720" cy="1920240"/>
          </a:xfrm>
          <a:prstGeom prst="roundRect">
            <a:avLst>
              <a:gd name="adj" fmla="val 5714"/>
            </a:avLst>
          </a:prstGeom>
          <a:solidFill>
            <a:schemeClr val="bg2"/>
          </a:solidFill>
          <a:ln/>
        </p:spPr>
      </p:sp>
      <p:sp>
        <p:nvSpPr>
          <p:cNvPr id="13" name="evidence big 4"/>
          <p:cNvSpPr txBox="1"/>
          <p:nvPr/>
        </p:nvSpPr>
        <p:spPr>
          <a:xfrm>
            <a:off x="822960" y="3703320"/>
            <a:ext cx="3017520" cy="731520"/>
          </a:xfrm>
          <a:prstGeom prst="rect">
            <a:avLst/>
          </a:prstGeom>
          <a:noFill/>
          <a:ln/>
        </p:spPr>
        <p:txBody>
          <a:bodyPr wrap="square" lIns="0" tIns="0" rIns="0" bIns="0" rtlCol="0" anchor="t"/>
          <a:lstStyle/>
          <a:p>
            <a:pPr indent="0" marL="0">
              <a:buNone/>
            </a:pPr>
            <a:r>
              <a:rPr lang="en-US" sz="3400" b="1" dirty="0">
                <a:solidFill>
                  <a:schemeClr val="accent4"/>
                </a:solidFill>
              </a:rPr>
              <a:t>2,400 / 2,400</a:t>
            </a:r>
            <a:endParaRPr lang="en-US" sz="3400" dirty="0"/>
          </a:p>
        </p:txBody>
      </p:sp>
      <p:sp>
        <p:nvSpPr>
          <p:cNvPr id="14" name="evidence label 4"/>
          <p:cNvSpPr txBox="1"/>
          <p:nvPr/>
        </p:nvSpPr>
        <p:spPr>
          <a:xfrm>
            <a:off x="822960" y="4480560"/>
            <a:ext cx="3017520" cy="868680"/>
          </a:xfrm>
          <a:prstGeom prst="rect">
            <a:avLst/>
          </a:prstGeom>
          <a:noFill/>
          <a:ln/>
        </p:spPr>
        <p:txBody>
          <a:bodyPr wrap="square" lIns="0" tIns="0" rIns="0" bIns="0" rtlCol="0" anchor="t"/>
          <a:lstStyle/>
          <a:p>
            <a:pPr indent="0" marL="0">
              <a:buNone/>
            </a:pPr>
            <a:r>
              <a:rPr lang="en-US" sz="1400" dirty="0">
                <a:solidFill>
                  <a:schemeClr val="tx1"/>
                </a:solidFill>
              </a:rPr>
              <a:t>adversarial and malformed proposals classified the same by both checkers</a:t>
            </a:r>
            <a:endParaRPr lang="en-US" sz="1400" dirty="0"/>
          </a:p>
        </p:txBody>
      </p:sp>
      <p:sp>
        <p:nvSpPr>
          <p:cNvPr id="15" name="evidence card 5"/>
          <p:cNvSpPr/>
          <p:nvPr/>
        </p:nvSpPr>
        <p:spPr>
          <a:xfrm>
            <a:off x="4297680" y="3520440"/>
            <a:ext cx="3474720" cy="1920240"/>
          </a:xfrm>
          <a:prstGeom prst="roundRect">
            <a:avLst>
              <a:gd name="adj" fmla="val 5714"/>
            </a:avLst>
          </a:prstGeom>
          <a:solidFill>
            <a:schemeClr val="bg2"/>
          </a:solidFill>
          <a:ln/>
        </p:spPr>
      </p:sp>
      <p:sp>
        <p:nvSpPr>
          <p:cNvPr id="16" name="evidence big 5"/>
          <p:cNvSpPr txBox="1"/>
          <p:nvPr/>
        </p:nvSpPr>
        <p:spPr>
          <a:xfrm>
            <a:off x="4572000" y="3703320"/>
            <a:ext cx="3017520" cy="731520"/>
          </a:xfrm>
          <a:prstGeom prst="rect">
            <a:avLst/>
          </a:prstGeom>
          <a:noFill/>
          <a:ln/>
        </p:spPr>
        <p:txBody>
          <a:bodyPr wrap="square" lIns="0" tIns="0" rIns="0" bIns="0" rtlCol="0" anchor="t"/>
          <a:lstStyle/>
          <a:p>
            <a:pPr indent="0" marL="0">
              <a:buNone/>
            </a:pPr>
            <a:r>
              <a:rPr lang="en-US" sz="3400" b="1" dirty="0">
                <a:solidFill>
                  <a:schemeClr val="accent2"/>
                </a:solidFill>
              </a:rPr>
              <a:t>1.1 ms</a:t>
            </a:r>
            <a:endParaRPr lang="en-US" sz="3400" dirty="0"/>
          </a:p>
        </p:txBody>
      </p:sp>
      <p:sp>
        <p:nvSpPr>
          <p:cNvPr id="17" name="evidence label 5"/>
          <p:cNvSpPr txBox="1"/>
          <p:nvPr/>
        </p:nvSpPr>
        <p:spPr>
          <a:xfrm>
            <a:off x="4572000" y="4480560"/>
            <a:ext cx="3017520" cy="868680"/>
          </a:xfrm>
          <a:prstGeom prst="rect">
            <a:avLst/>
          </a:prstGeom>
          <a:noFill/>
          <a:ln/>
        </p:spPr>
        <p:txBody>
          <a:bodyPr wrap="square" lIns="0" tIns="0" rIns="0" bIns="0" rtlCol="0" anchor="t"/>
          <a:lstStyle/>
          <a:p>
            <a:pPr indent="0" marL="0">
              <a:buNone/>
            </a:pPr>
            <a:r>
              <a:rPr lang="en-US" sz="1400" dirty="0">
                <a:solidFill>
                  <a:schemeClr val="tx1"/>
                </a:solidFill>
              </a:rPr>
              <a:t>median recovery time (95th percentile 1.2 ms)</a:t>
            </a:r>
            <a:endParaRPr lang="en-US" sz="1400" dirty="0"/>
          </a:p>
        </p:txBody>
      </p:sp>
      <p:sp>
        <p:nvSpPr>
          <p:cNvPr id="18" name="evidence card 6"/>
          <p:cNvSpPr/>
          <p:nvPr/>
        </p:nvSpPr>
        <p:spPr>
          <a:xfrm>
            <a:off x="8046720" y="3520440"/>
            <a:ext cx="3474720" cy="1920240"/>
          </a:xfrm>
          <a:prstGeom prst="roundRect">
            <a:avLst>
              <a:gd name="adj" fmla="val 5714"/>
            </a:avLst>
          </a:prstGeom>
          <a:solidFill>
            <a:schemeClr val="bg2"/>
          </a:solidFill>
          <a:ln/>
        </p:spPr>
      </p:sp>
      <p:sp>
        <p:nvSpPr>
          <p:cNvPr id="19" name="evidence big 6"/>
          <p:cNvSpPr txBox="1"/>
          <p:nvPr/>
        </p:nvSpPr>
        <p:spPr>
          <a:xfrm>
            <a:off x="8321040" y="3703320"/>
            <a:ext cx="3017520" cy="731520"/>
          </a:xfrm>
          <a:prstGeom prst="rect">
            <a:avLst/>
          </a:prstGeom>
          <a:noFill/>
          <a:ln/>
        </p:spPr>
        <p:txBody>
          <a:bodyPr wrap="square" lIns="0" tIns="0" rIns="0" bIns="0" rtlCol="0" anchor="t"/>
          <a:lstStyle/>
          <a:p>
            <a:pPr indent="0" marL="0">
              <a:buNone/>
            </a:pPr>
            <a:r>
              <a:rPr lang="en-US" sz="3400" b="1" dirty="0">
                <a:solidFill>
                  <a:schemeClr val="accent5"/>
                </a:solidFill>
              </a:rPr>
              <a:t>22 / 22</a:t>
            </a:r>
            <a:endParaRPr lang="en-US" sz="3400" dirty="0"/>
          </a:p>
        </p:txBody>
      </p:sp>
      <p:sp>
        <p:nvSpPr>
          <p:cNvPr id="20" name="evidence label 6"/>
          <p:cNvSpPr txBox="1"/>
          <p:nvPr/>
        </p:nvSpPr>
        <p:spPr>
          <a:xfrm>
            <a:off x="8321040" y="4480560"/>
            <a:ext cx="3017520" cy="868680"/>
          </a:xfrm>
          <a:prstGeom prst="rect">
            <a:avLst/>
          </a:prstGeom>
          <a:noFill/>
          <a:ln/>
        </p:spPr>
        <p:txBody>
          <a:bodyPr wrap="square" lIns="0" tIns="0" rIns="0" bIns="0" rtlCol="0" anchor="t"/>
          <a:lstStyle/>
          <a:p>
            <a:pPr indent="0" marL="0">
              <a:buNone/>
            </a:pPr>
            <a:r>
              <a:rPr lang="en-US" sz="1400" dirty="0">
                <a:solidFill>
                  <a:schemeClr val="tx1"/>
                </a:solidFill>
              </a:rPr>
              <a:t>re-runs produced identical results</a:t>
            </a:r>
            <a:endParaRPr lang="en-US" sz="1400" dirty="0"/>
          </a:p>
        </p:txBody>
      </p:sp>
      <p:sp>
        <p:nvSpPr>
          <p:cNvPr id="21" name="evidence caveat"/>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100" i="1" dirty="0">
                <a:solidFill>
                  <a:schemeClr val="accent5"/>
                </a:solidFill>
              </a:rPr>
              <a:t>Reproduce: python app/evaluation.py --n 300 --seed 7. Both checkers share the same constraint definitions, so agreement shows the code is consistent — not that the physics model is complete.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Gemma turns human context into validated priorities</a:t>
            </a:r>
            <a:endParaRPr lang="en-US" sz="3200" dirty="0"/>
          </a:p>
        </p:txBody>
      </p:sp>
      <p:sp>
        <p:nvSpPr>
          <p:cNvPr id="3" name="gemma step 1"/>
          <p:cNvSpPr/>
          <p:nvPr/>
        </p:nvSpPr>
        <p:spPr>
          <a:xfrm>
            <a:off x="548640" y="1463040"/>
            <a:ext cx="2560320" cy="2103120"/>
          </a:xfrm>
          <a:prstGeom prst="roundRect">
            <a:avLst>
              <a:gd name="adj" fmla="val 5217"/>
            </a:avLst>
          </a:prstGeom>
          <a:solidFill>
            <a:schemeClr val="bg2"/>
          </a:solidFill>
          <a:ln/>
        </p:spPr>
      </p:sp>
      <p:sp>
        <p:nvSpPr>
          <p:cNvPr id="4" name="gemma step text 1"/>
          <p:cNvSpPr txBox="1"/>
          <p:nvPr/>
        </p:nvSpPr>
        <p:spPr>
          <a:xfrm>
            <a:off x="777240" y="1691640"/>
            <a:ext cx="2103120" cy="1691640"/>
          </a:xfrm>
          <a:prstGeom prst="rect">
            <a:avLst/>
          </a:prstGeom>
          <a:noFill/>
          <a:ln/>
        </p:spPr>
        <p:txBody>
          <a:bodyPr wrap="square" lIns="0" tIns="0" rIns="0" bIns="0" rtlCol="0" anchor="t"/>
          <a:lstStyle/>
          <a:p>
            <a:pPr indent="0" marL="0">
              <a:buNone/>
            </a:pPr>
            <a:r>
              <a:rPr lang="en-US" sz="1700" b="1" dirty="0">
                <a:solidFill>
                  <a:schemeClr val="tx1"/>
                </a:solidFill>
              </a:rPr>
              <a:t>Operator note</a:t>
            </a:r>
            <a:endParaRPr lang="en-US" sz="1700" dirty="0"/>
          </a:p>
          <a:p>
            <a:pPr indent="0" marL="0">
              <a:buNone/>
            </a:pPr>
            <a:r>
              <a:rPr lang="en-US" sz="1400" dirty="0">
                <a:solidFill>
                  <a:schemeClr val="tx1"/>
                </a:solidFill>
              </a:rPr>
              <a:t>"Cyclone warning — the school gym is the evacuation shelter until 18:00."</a:t>
            </a:r>
            <a:endParaRPr lang="en-US" sz="1700" dirty="0"/>
          </a:p>
        </p:txBody>
      </p:sp>
      <p:sp>
        <p:nvSpPr>
          <p:cNvPr id="5" name="gemma arrow 1"/>
          <p:cNvSpPr/>
          <p:nvPr/>
        </p:nvSpPr>
        <p:spPr>
          <a:xfrm>
            <a:off x="3127248" y="2514600"/>
            <a:ext cx="237744" cy="0"/>
          </a:xfrm>
          <a:prstGeom prst="line">
            <a:avLst/>
          </a:prstGeom>
          <a:noFill/>
          <a:ln w="25400">
            <a:solidFill>
              <a:srgbClr val="5B6B7A"/>
            </a:solidFill>
            <a:prstDash val="solid"/>
            <a:tailEnd type="triangle"/>
          </a:ln>
        </p:spPr>
      </p:sp>
      <p:sp>
        <p:nvSpPr>
          <p:cNvPr id="6" name="gemma step 2"/>
          <p:cNvSpPr/>
          <p:nvPr/>
        </p:nvSpPr>
        <p:spPr>
          <a:xfrm>
            <a:off x="3383280" y="1463040"/>
            <a:ext cx="2560320" cy="2103120"/>
          </a:xfrm>
          <a:prstGeom prst="roundRect">
            <a:avLst>
              <a:gd name="adj" fmla="val 5217"/>
            </a:avLst>
          </a:prstGeom>
          <a:solidFill>
            <a:srgbClr val="6E5FD0"/>
          </a:solidFill>
          <a:ln/>
        </p:spPr>
      </p:sp>
      <p:sp>
        <p:nvSpPr>
          <p:cNvPr id="7" name="gemma step text 2"/>
          <p:cNvSpPr txBox="1"/>
          <p:nvPr/>
        </p:nvSpPr>
        <p:spPr>
          <a:xfrm>
            <a:off x="3611880" y="1691640"/>
            <a:ext cx="2103120" cy="1691640"/>
          </a:xfrm>
          <a:prstGeom prst="rect">
            <a:avLst/>
          </a:prstGeom>
          <a:noFill/>
          <a:ln/>
        </p:spPr>
        <p:txBody>
          <a:bodyPr wrap="square" lIns="0" tIns="0" rIns="0" bIns="0" rtlCol="0" anchor="t"/>
          <a:lstStyle/>
          <a:p>
            <a:pPr indent="0" marL="0">
              <a:buNone/>
            </a:pPr>
            <a:r>
              <a:rPr lang="en-US" sz="1700" b="1" dirty="0">
                <a:solidFill>
                  <a:schemeClr val="bg1"/>
                </a:solidFill>
              </a:rPr>
              <a:t>Gemma</a:t>
            </a:r>
            <a:endParaRPr lang="en-US" sz="1700" dirty="0"/>
          </a:p>
          <a:p>
            <a:pPr indent="0" marL="0">
              <a:buNone/>
            </a:pPr>
            <a:r>
              <a:rPr lang="en-US" sz="1400" dirty="0">
                <a:solidFill>
                  <a:schemeClr val="bg1"/>
                </a:solidFill>
              </a:rPr>
              <a:t>Returns JSON: summary, protected loads, priority 1–5 per load, rationale</a:t>
            </a:r>
            <a:endParaRPr lang="en-US" sz="1700" dirty="0"/>
          </a:p>
        </p:txBody>
      </p:sp>
      <p:sp>
        <p:nvSpPr>
          <p:cNvPr id="8" name="gemma arrow 2"/>
          <p:cNvSpPr/>
          <p:nvPr/>
        </p:nvSpPr>
        <p:spPr>
          <a:xfrm>
            <a:off x="5961888" y="2514600"/>
            <a:ext cx="237744" cy="0"/>
          </a:xfrm>
          <a:prstGeom prst="line">
            <a:avLst/>
          </a:prstGeom>
          <a:noFill/>
          <a:ln w="25400">
            <a:solidFill>
              <a:srgbClr val="5B6B7A"/>
            </a:solidFill>
            <a:prstDash val="solid"/>
            <a:tailEnd type="triangle"/>
          </a:ln>
        </p:spPr>
      </p:sp>
      <p:sp>
        <p:nvSpPr>
          <p:cNvPr id="9" name="gemma step 3"/>
          <p:cNvSpPr/>
          <p:nvPr/>
        </p:nvSpPr>
        <p:spPr>
          <a:xfrm>
            <a:off x="6217920" y="1463040"/>
            <a:ext cx="2560320" cy="2103120"/>
          </a:xfrm>
          <a:prstGeom prst="roundRect">
            <a:avLst>
              <a:gd name="adj" fmla="val 5217"/>
            </a:avLst>
          </a:prstGeom>
          <a:solidFill>
            <a:srgbClr val="0E2A3D"/>
          </a:solidFill>
          <a:ln/>
        </p:spPr>
      </p:sp>
      <p:sp>
        <p:nvSpPr>
          <p:cNvPr id="10" name="gemma step text 3"/>
          <p:cNvSpPr txBox="1"/>
          <p:nvPr/>
        </p:nvSpPr>
        <p:spPr>
          <a:xfrm>
            <a:off x="6446520" y="1691640"/>
            <a:ext cx="2103120" cy="1691640"/>
          </a:xfrm>
          <a:prstGeom prst="rect">
            <a:avLst/>
          </a:prstGeom>
          <a:noFill/>
          <a:ln/>
        </p:spPr>
        <p:txBody>
          <a:bodyPr wrap="square" lIns="0" tIns="0" rIns="0" bIns="0" rtlCol="0" anchor="t"/>
          <a:lstStyle/>
          <a:p>
            <a:pPr indent="0" marL="0">
              <a:buNone/>
            </a:pPr>
            <a:r>
              <a:rPr lang="en-US" sz="1700" b="1" dirty="0">
                <a:solidFill>
                  <a:schemeClr val="bg1"/>
                </a:solidFill>
              </a:rPr>
              <a:t>Schema validation</a:t>
            </a:r>
            <a:endParaRPr lang="en-US" sz="1700" dirty="0"/>
          </a:p>
          <a:p>
            <a:pPr indent="0" marL="0">
              <a:buNone/>
            </a:pPr>
            <a:r>
              <a:rPr lang="en-US" sz="1400" dirty="0">
                <a:solidFill>
                  <a:schemeClr val="bg1"/>
                </a:solidFill>
              </a:rPr>
              <a:t>Only known non-critical loads, valid ranges, no extra keys — otherwise rejected</a:t>
            </a:r>
            <a:endParaRPr lang="en-US" sz="1700" dirty="0"/>
          </a:p>
        </p:txBody>
      </p:sp>
      <p:sp>
        <p:nvSpPr>
          <p:cNvPr id="11" name="gemma arrow 3"/>
          <p:cNvSpPr/>
          <p:nvPr/>
        </p:nvSpPr>
        <p:spPr>
          <a:xfrm>
            <a:off x="8796528" y="2514600"/>
            <a:ext cx="237744" cy="0"/>
          </a:xfrm>
          <a:prstGeom prst="line">
            <a:avLst/>
          </a:prstGeom>
          <a:noFill/>
          <a:ln w="25400">
            <a:solidFill>
              <a:srgbClr val="5B6B7A"/>
            </a:solidFill>
            <a:prstDash val="solid"/>
            <a:tailEnd type="triangle"/>
          </a:ln>
        </p:spPr>
      </p:sp>
      <p:sp>
        <p:nvSpPr>
          <p:cNvPr id="12" name="gemma step 4"/>
          <p:cNvSpPr/>
          <p:nvPr/>
        </p:nvSpPr>
        <p:spPr>
          <a:xfrm>
            <a:off x="9052560" y="1463040"/>
            <a:ext cx="2560320" cy="2103120"/>
          </a:xfrm>
          <a:prstGeom prst="roundRect">
            <a:avLst>
              <a:gd name="adj" fmla="val 5217"/>
            </a:avLst>
          </a:prstGeom>
          <a:solidFill>
            <a:srgbClr val="0F9D8A"/>
          </a:solidFill>
          <a:ln/>
        </p:spPr>
      </p:sp>
      <p:sp>
        <p:nvSpPr>
          <p:cNvPr id="13" name="gemma step text 4"/>
          <p:cNvSpPr txBox="1"/>
          <p:nvPr/>
        </p:nvSpPr>
        <p:spPr>
          <a:xfrm>
            <a:off x="9281160" y="1691640"/>
            <a:ext cx="2103120" cy="1691640"/>
          </a:xfrm>
          <a:prstGeom prst="rect">
            <a:avLst/>
          </a:prstGeom>
          <a:noFill/>
          <a:ln/>
        </p:spPr>
        <p:txBody>
          <a:bodyPr wrap="square" lIns="0" tIns="0" rIns="0" bIns="0" rtlCol="0" anchor="t"/>
          <a:lstStyle/>
          <a:p>
            <a:pPr indent="0" marL="0">
              <a:buNone/>
            </a:pPr>
            <a:r>
              <a:rPr lang="en-US" sz="1700" b="1" dirty="0">
                <a:solidFill>
                  <a:schemeClr val="bg1"/>
                </a:solidFill>
              </a:rPr>
              <a:t>Optimizer weights</a:t>
            </a:r>
            <a:endParaRPr lang="en-US" sz="1700" dirty="0"/>
          </a:p>
          <a:p>
            <a:pPr indent="0" marL="0">
              <a:buNone/>
            </a:pPr>
            <a:r>
              <a:rPr lang="en-US" sz="1400" dirty="0">
                <a:solidFill>
                  <a:schemeClr val="bg1"/>
                </a:solidFill>
              </a:rPr>
              <a:t>Priorities change who is shed first — never a hard limit</a:t>
            </a:r>
            <a:endParaRPr lang="en-US" sz="1700" dirty="0"/>
          </a:p>
        </p:txBody>
      </p:sp>
      <p:sp>
        <p:nvSpPr>
          <p:cNvPr id="14" name="status head"/>
          <p:cNvSpPr txBox="1"/>
          <p:nvPr/>
        </p:nvSpPr>
        <p:spPr>
          <a:xfrm>
            <a:off x="548640" y="3886200"/>
            <a:ext cx="11064240" cy="411480"/>
          </a:xfrm>
          <a:prstGeom prst="rect">
            <a:avLst/>
          </a:prstGeom>
          <a:noFill/>
          <a:ln/>
        </p:spPr>
        <p:txBody>
          <a:bodyPr wrap="square" lIns="0" tIns="0" rIns="0" bIns="0" rtlCol="0" anchor="t"/>
          <a:lstStyle/>
          <a:p>
            <a:pPr indent="0" marL="0">
              <a:buNone/>
            </a:pPr>
            <a:r>
              <a:rPr lang="en-US" sz="1600" b="1" dirty="0">
                <a:solidFill>
                  <a:schemeClr val="tx2"/>
                </a:solidFill>
              </a:rPr>
              <a:t>Every call is labelled with its real outcome — no model output is ever simulated</a:t>
            </a:r>
            <a:endParaRPr lang="en-US" sz="1600" dirty="0"/>
          </a:p>
        </p:txBody>
      </p:sp>
      <p:sp>
        <p:nvSpPr>
          <p:cNvPr id="15" name="status inference"/>
          <p:cNvSpPr txBox="1"/>
          <p:nvPr/>
        </p:nvSpPr>
        <p:spPr>
          <a:xfrm>
            <a:off x="548640" y="4389120"/>
            <a:ext cx="2560320" cy="822960"/>
          </a:xfrm>
          <a:prstGeom prst="rect">
            <a:avLst/>
          </a:prstGeom>
          <a:noFill/>
          <a:ln/>
        </p:spPr>
        <p:txBody>
          <a:bodyPr wrap="square" lIns="0" tIns="0" rIns="0" bIns="0" rtlCol="0" anchor="t"/>
          <a:lstStyle/>
          <a:p>
            <a:pPr indent="0" marL="0">
              <a:buNone/>
            </a:pPr>
            <a:r>
              <a:rPr lang="en-US" sz="1400" b="1" dirty="0">
                <a:solidFill>
                  <a:schemeClr val="accent4"/>
                </a:solidFill>
              </a:rPr>
              <a:t>inference</a:t>
            </a:r>
            <a:endParaRPr lang="en-US" sz="1400" dirty="0"/>
          </a:p>
          <a:p>
            <a:pPr indent="0" marL="0">
              <a:buNone/>
            </a:pPr>
            <a:r>
              <a:rPr lang="en-US" sz="1400" dirty="0">
                <a:solidFill>
                  <a:schemeClr val="tx1"/>
                </a:solidFill>
              </a:rPr>
              <a:t>real model response, validated</a:t>
            </a:r>
            <a:endParaRPr lang="en-US" sz="1400" dirty="0"/>
          </a:p>
        </p:txBody>
      </p:sp>
      <p:sp>
        <p:nvSpPr>
          <p:cNvPr id="16" name="status rejected"/>
          <p:cNvSpPr txBox="1"/>
          <p:nvPr/>
        </p:nvSpPr>
        <p:spPr>
          <a:xfrm>
            <a:off x="3383280" y="4389120"/>
            <a:ext cx="2560320" cy="822960"/>
          </a:xfrm>
          <a:prstGeom prst="rect">
            <a:avLst/>
          </a:prstGeom>
          <a:noFill/>
          <a:ln/>
        </p:spPr>
        <p:txBody>
          <a:bodyPr wrap="square" lIns="0" tIns="0" rIns="0" bIns="0" rtlCol="0" anchor="t"/>
          <a:lstStyle/>
          <a:p>
            <a:pPr indent="0" marL="0">
              <a:buNone/>
            </a:pPr>
            <a:r>
              <a:rPr lang="en-US" sz="1400" b="1" dirty="0">
                <a:solidFill>
                  <a:schemeClr val="accent3"/>
                </a:solidFill>
              </a:rPr>
              <a:t>rejected</a:t>
            </a:r>
            <a:endParaRPr lang="en-US" sz="1400" dirty="0"/>
          </a:p>
          <a:p>
            <a:pPr indent="0" marL="0">
              <a:buNone/>
            </a:pPr>
            <a:r>
              <a:rPr lang="en-US" sz="1400" dirty="0">
                <a:solidFill>
                  <a:schemeClr val="tx1"/>
                </a:solidFill>
              </a:rPr>
              <a:t>model answered, output failed validation</a:t>
            </a:r>
            <a:endParaRPr lang="en-US" sz="1400" dirty="0"/>
          </a:p>
        </p:txBody>
      </p:sp>
      <p:sp>
        <p:nvSpPr>
          <p:cNvPr id="17" name="status unavailable"/>
          <p:cNvSpPr txBox="1"/>
          <p:nvPr/>
        </p:nvSpPr>
        <p:spPr>
          <a:xfrm>
            <a:off x="6217920" y="4389120"/>
            <a:ext cx="2560320" cy="822960"/>
          </a:xfrm>
          <a:prstGeom prst="rect">
            <a:avLst/>
          </a:prstGeom>
          <a:noFill/>
          <a:ln/>
        </p:spPr>
        <p:txBody>
          <a:bodyPr wrap="square" lIns="0" tIns="0" rIns="0" bIns="0" rtlCol="0" anchor="t"/>
          <a:lstStyle/>
          <a:p>
            <a:pPr indent="0" marL="0">
              <a:buNone/>
            </a:pPr>
            <a:r>
              <a:rPr lang="en-US" sz="1400" b="1" dirty="0">
                <a:solidFill>
                  <a:schemeClr val="accent2"/>
                </a:solidFill>
              </a:rPr>
              <a:t>unavailable</a:t>
            </a:r>
            <a:endParaRPr lang="en-US" sz="1400" dirty="0"/>
          </a:p>
          <a:p>
            <a:pPr indent="0" marL="0">
              <a:buNone/>
            </a:pPr>
            <a:r>
              <a:rPr lang="en-US" sz="1400" dirty="0">
                <a:solidFill>
                  <a:schemeClr val="tx1"/>
                </a:solidFill>
              </a:rPr>
              <a:t>timeout or HTTP error after 1 retry</a:t>
            </a:r>
            <a:endParaRPr lang="en-US" sz="1400" dirty="0"/>
          </a:p>
        </p:txBody>
      </p:sp>
      <p:sp>
        <p:nvSpPr>
          <p:cNvPr id="18" name="status not configured"/>
          <p:cNvSpPr txBox="1"/>
          <p:nvPr/>
        </p:nvSpPr>
        <p:spPr>
          <a:xfrm>
            <a:off x="9052560" y="4389120"/>
            <a:ext cx="2560320" cy="822960"/>
          </a:xfrm>
          <a:prstGeom prst="rect">
            <a:avLst/>
          </a:prstGeom>
          <a:noFill/>
          <a:ln/>
        </p:spPr>
        <p:txBody>
          <a:bodyPr wrap="square" lIns="0" tIns="0" rIns="0" bIns="0" rtlCol="0" anchor="t"/>
          <a:lstStyle/>
          <a:p>
            <a:pPr indent="0" marL="0">
              <a:buNone/>
            </a:pPr>
            <a:r>
              <a:rPr lang="en-US" sz="1400" b="1" dirty="0">
                <a:solidFill>
                  <a:schemeClr val="accent5"/>
                </a:solidFill>
              </a:rPr>
              <a:t>not configured</a:t>
            </a:r>
            <a:endParaRPr lang="en-US" sz="1400" dirty="0"/>
          </a:p>
          <a:p>
            <a:pPr indent="0" marL="0">
              <a:buNone/>
            </a:pPr>
            <a:r>
              <a:rPr lang="en-US" sz="1400" dirty="0">
                <a:solidFill>
                  <a:schemeClr val="tx1"/>
                </a:solidFill>
              </a:rPr>
              <a:t>no endpoint set</a:t>
            </a:r>
            <a:endParaRPr lang="en-US" sz="1400" dirty="0"/>
          </a:p>
        </p:txBody>
      </p:sp>
      <p:sp>
        <p:nvSpPr>
          <p:cNvPr id="19" name="gemma safety note"/>
          <p:cNvSpPr/>
          <p:nvPr/>
        </p:nvSpPr>
        <p:spPr>
          <a:xfrm>
            <a:off x="548640" y="5349240"/>
            <a:ext cx="11064240" cy="777240"/>
          </a:xfrm>
          <a:prstGeom prst="roundRect">
            <a:avLst>
              <a:gd name="adj" fmla="val 14118"/>
            </a:avLst>
          </a:prstGeom>
          <a:solidFill>
            <a:schemeClr val="bg2"/>
          </a:solidFill>
          <a:ln/>
        </p:spPr>
      </p:sp>
      <p:sp>
        <p:nvSpPr>
          <p:cNvPr id="20" name="gemma safety text"/>
          <p:cNvSpPr txBox="1"/>
          <p:nvPr/>
        </p:nvSpPr>
        <p:spPr>
          <a:xfrm>
            <a:off x="777240" y="5440680"/>
            <a:ext cx="10607040" cy="594360"/>
          </a:xfrm>
          <a:prstGeom prst="rect">
            <a:avLst/>
          </a:prstGeom>
          <a:noFill/>
          <a:ln/>
        </p:spPr>
        <p:txBody>
          <a:bodyPr wrap="square" lIns="0" tIns="0" rIns="0" bIns="0" rtlCol="0" anchor="ctr"/>
          <a:lstStyle/>
          <a:p>
            <a:pPr indent="0" marL="0">
              <a:buNone/>
            </a:pPr>
            <a:r>
              <a:rPr lang="en-US" sz="1400" dirty="0">
                <a:solidFill>
                  <a:schemeClr val="tx1"/>
                </a:solidFill>
              </a:rPr>
              <a:t>If Gemma is missing, slow or wrong, the system falls back to declared default priorities. The verifier never reads Gemma's output, so safety never depends on the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Feasible today on a small, open Google stack</a:t>
            </a:r>
            <a:endParaRPr lang="en-US" sz="3200" dirty="0"/>
          </a:p>
        </p:txBody>
      </p:sp>
      <p:sp>
        <p:nvSpPr>
          <p:cNvPr id="3" name="tech 1 circle"/>
          <p:cNvSpPr/>
          <p:nvPr/>
        </p:nvSpPr>
        <p:spPr>
          <a:xfrm>
            <a:off x="548640" y="1417320"/>
            <a:ext cx="777240" cy="777240"/>
          </a:xfrm>
          <a:prstGeom prst="ellipse">
            <a:avLst/>
          </a:prstGeom>
          <a:solidFill>
            <a:srgbClr val="6E5FD0"/>
          </a:solidFill>
          <a:ln/>
        </p:spPr>
      </p:sp>
      <p:pic>
        <p:nvPicPr>
          <p:cNvPr id="4" name="tech 1 icon" descr="preencoded.png">    </p:cNvPr>
          <p:cNvPicPr>
            <a:picLocks noChangeAspect="1"/>
          </p:cNvPicPr>
          <p:nvPr/>
        </p:nvPicPr>
        <p:blipFill>
          <a:blip r:embed="rId1"/>
          <a:stretch>
            <a:fillRect/>
          </a:stretch>
        </p:blipFill>
        <p:spPr>
          <a:xfrm>
            <a:off x="750722" y="1619402"/>
            <a:ext cx="373075" cy="373075"/>
          </a:xfrm>
          <a:prstGeom prst="rect">
            <a:avLst/>
          </a:prstGeom>
        </p:spPr>
      </p:pic>
      <p:sp>
        <p:nvSpPr>
          <p:cNvPr id="5" name="tech text 1"/>
          <p:cNvSpPr txBox="1"/>
          <p:nvPr/>
        </p:nvSpPr>
        <p:spPr>
          <a:xfrm>
            <a:off x="1508760" y="1399032"/>
            <a:ext cx="4480560" cy="914400"/>
          </a:xfrm>
          <a:prstGeom prst="rect">
            <a:avLst/>
          </a:prstGeom>
          <a:noFill/>
          <a:ln/>
        </p:spPr>
        <p:txBody>
          <a:bodyPr wrap="square" lIns="0" tIns="0" rIns="0" bIns="0" rtlCol="0" anchor="t"/>
          <a:lstStyle/>
          <a:p>
            <a:pPr indent="0" marL="0">
              <a:buNone/>
            </a:pPr>
            <a:r>
              <a:rPr lang="en-US" sz="1800" b="1" dirty="0">
                <a:solidFill>
                  <a:schemeClr val="tx2"/>
                </a:solidFill>
              </a:rPr>
              <a:t>Gemma</a:t>
            </a:r>
            <a:endParaRPr lang="en-US" sz="1800" dirty="0"/>
          </a:p>
          <a:p>
            <a:pPr indent="0" marL="0">
              <a:buNone/>
            </a:pPr>
            <a:r>
              <a:rPr lang="en-US" sz="1400" dirty="0">
                <a:solidFill>
                  <a:schemeClr val="tx1"/>
                </a:solidFill>
              </a:rPr>
              <a:t>Operator-context understanding (Google AI Studio or self-hosted)</a:t>
            </a:r>
            <a:endParaRPr lang="en-US" sz="1800" dirty="0"/>
          </a:p>
        </p:txBody>
      </p:sp>
      <p:sp>
        <p:nvSpPr>
          <p:cNvPr id="6" name="tech 2 circle"/>
          <p:cNvSpPr/>
          <p:nvPr/>
        </p:nvSpPr>
        <p:spPr>
          <a:xfrm>
            <a:off x="548640" y="2606040"/>
            <a:ext cx="777240" cy="777240"/>
          </a:xfrm>
          <a:prstGeom prst="ellipse">
            <a:avLst/>
          </a:prstGeom>
          <a:solidFill>
            <a:srgbClr val="0F9D8A"/>
          </a:solidFill>
          <a:ln/>
        </p:spPr>
      </p:sp>
      <p:pic>
        <p:nvPicPr>
          <p:cNvPr id="7" name="tech 2 icon" descr="preencoded.png">    </p:cNvPr>
          <p:cNvPicPr>
            <a:picLocks noChangeAspect="1"/>
          </p:cNvPicPr>
          <p:nvPr/>
        </p:nvPicPr>
        <p:blipFill>
          <a:blip r:embed="rId2"/>
          <a:stretch>
            <a:fillRect/>
          </a:stretch>
        </p:blipFill>
        <p:spPr>
          <a:xfrm>
            <a:off x="750722" y="2808122"/>
            <a:ext cx="373075" cy="373075"/>
          </a:xfrm>
          <a:prstGeom prst="rect">
            <a:avLst/>
          </a:prstGeom>
        </p:spPr>
      </p:pic>
      <p:sp>
        <p:nvSpPr>
          <p:cNvPr id="8" name="tech text 2"/>
          <p:cNvSpPr txBox="1"/>
          <p:nvPr/>
        </p:nvSpPr>
        <p:spPr>
          <a:xfrm>
            <a:off x="1508760" y="2587752"/>
            <a:ext cx="4480560" cy="914400"/>
          </a:xfrm>
          <a:prstGeom prst="rect">
            <a:avLst/>
          </a:prstGeom>
          <a:noFill/>
          <a:ln/>
        </p:spPr>
        <p:txBody>
          <a:bodyPr wrap="square" lIns="0" tIns="0" rIns="0" bIns="0" rtlCol="0" anchor="t"/>
          <a:lstStyle/>
          <a:p>
            <a:pPr indent="0" marL="0">
              <a:buNone/>
            </a:pPr>
            <a:r>
              <a:rPr lang="en-US" sz="1800" b="1" dirty="0">
                <a:solidFill>
                  <a:schemeClr val="tx2"/>
                </a:solidFill>
              </a:rPr>
              <a:t>Google OR-Tools</a:t>
            </a:r>
            <a:endParaRPr lang="en-US" sz="1800" dirty="0"/>
          </a:p>
          <a:p>
            <a:pPr indent="0" marL="0">
              <a:buNone/>
            </a:pPr>
            <a:r>
              <a:rPr lang="en-US" sz="1400" dirty="0">
                <a:solidFill>
                  <a:schemeClr val="tx1"/>
                </a:solidFill>
              </a:rPr>
              <a:t>DC optimal power flow — the dispatch plan (GLOP linear solver)</a:t>
            </a:r>
            <a:endParaRPr lang="en-US" sz="1800" dirty="0"/>
          </a:p>
        </p:txBody>
      </p:sp>
      <p:sp>
        <p:nvSpPr>
          <p:cNvPr id="9" name="tech 3 circle"/>
          <p:cNvSpPr/>
          <p:nvPr/>
        </p:nvSpPr>
        <p:spPr>
          <a:xfrm>
            <a:off x="548640" y="3794760"/>
            <a:ext cx="777240" cy="777240"/>
          </a:xfrm>
          <a:prstGeom prst="ellipse">
            <a:avLst/>
          </a:prstGeom>
          <a:solidFill>
            <a:srgbClr val="0E2A3D"/>
          </a:solidFill>
          <a:ln/>
        </p:spPr>
      </p:sp>
      <p:pic>
        <p:nvPicPr>
          <p:cNvPr id="10" name="tech 3 icon" descr="preencoded.png">    </p:cNvPr>
          <p:cNvPicPr>
            <a:picLocks noChangeAspect="1"/>
          </p:cNvPicPr>
          <p:nvPr/>
        </p:nvPicPr>
        <p:blipFill>
          <a:blip r:embed="rId3"/>
          <a:stretch>
            <a:fillRect/>
          </a:stretch>
        </p:blipFill>
        <p:spPr>
          <a:xfrm>
            <a:off x="750722" y="3996842"/>
            <a:ext cx="373075" cy="373075"/>
          </a:xfrm>
          <a:prstGeom prst="rect">
            <a:avLst/>
          </a:prstGeom>
        </p:spPr>
      </p:pic>
      <p:sp>
        <p:nvSpPr>
          <p:cNvPr id="11" name="tech text 3"/>
          <p:cNvSpPr txBox="1"/>
          <p:nvPr/>
        </p:nvSpPr>
        <p:spPr>
          <a:xfrm>
            <a:off x="1508760" y="3776472"/>
            <a:ext cx="4480560" cy="914400"/>
          </a:xfrm>
          <a:prstGeom prst="rect">
            <a:avLst/>
          </a:prstGeom>
          <a:noFill/>
          <a:ln/>
        </p:spPr>
        <p:txBody>
          <a:bodyPr wrap="square" lIns="0" tIns="0" rIns="0" bIns="0" rtlCol="0" anchor="t"/>
          <a:lstStyle/>
          <a:p>
            <a:pPr indent="0" marL="0">
              <a:buNone/>
            </a:pPr>
            <a:r>
              <a:rPr lang="en-US" sz="1800" b="1" dirty="0">
                <a:solidFill>
                  <a:schemeClr val="tx2"/>
                </a:solidFill>
              </a:rPr>
              <a:t>Cloud Run + Secret Manager</a:t>
            </a:r>
            <a:endParaRPr lang="en-US" sz="1800" dirty="0"/>
          </a:p>
          <a:p>
            <a:pPr indent="0" marL="0">
              <a:buNone/>
            </a:pPr>
            <a:r>
              <a:rPr lang="en-US" sz="1400" dirty="0">
                <a:solidFill>
                  <a:schemeClr val="tx1"/>
                </a:solidFill>
              </a:rPr>
              <a:t>Hosting the FastAPI app; Gemma key kept out of the code</a:t>
            </a:r>
            <a:endParaRPr lang="en-US" sz="1800" dirty="0"/>
          </a:p>
        </p:txBody>
      </p:sp>
      <p:sp>
        <p:nvSpPr>
          <p:cNvPr id="12" name="feasibility card 1"/>
          <p:cNvSpPr/>
          <p:nvPr/>
        </p:nvSpPr>
        <p:spPr>
          <a:xfrm>
            <a:off x="6400800" y="1417320"/>
            <a:ext cx="2377440" cy="1554480"/>
          </a:xfrm>
          <a:prstGeom prst="roundRect">
            <a:avLst>
              <a:gd name="adj" fmla="val 7059"/>
            </a:avLst>
          </a:prstGeom>
          <a:solidFill>
            <a:schemeClr val="bg2"/>
          </a:solidFill>
          <a:ln/>
        </p:spPr>
      </p:sp>
      <p:sp>
        <p:nvSpPr>
          <p:cNvPr id="13" name="feas big 1"/>
          <p:cNvSpPr txBox="1"/>
          <p:nvPr/>
        </p:nvSpPr>
        <p:spPr>
          <a:xfrm>
            <a:off x="6629400" y="1600200"/>
            <a:ext cx="1920240" cy="685800"/>
          </a:xfrm>
          <a:prstGeom prst="rect">
            <a:avLst/>
          </a:prstGeom>
          <a:noFill/>
          <a:ln/>
        </p:spPr>
        <p:txBody>
          <a:bodyPr wrap="square" lIns="0" tIns="0" rIns="0" bIns="0" rtlCol="0" anchor="t"/>
          <a:lstStyle/>
          <a:p>
            <a:pPr indent="0" marL="0">
              <a:buNone/>
            </a:pPr>
            <a:r>
              <a:rPr lang="en-US" sz="3000" b="1" dirty="0">
                <a:solidFill>
                  <a:schemeClr val="accent1"/>
                </a:solidFill>
              </a:rPr>
              <a:t>≈ 0.2 ms</a:t>
            </a:r>
            <a:endParaRPr lang="en-US" sz="3000" dirty="0"/>
          </a:p>
        </p:txBody>
      </p:sp>
      <p:sp>
        <p:nvSpPr>
          <p:cNvPr id="14" name="feas label 1"/>
          <p:cNvSpPr txBox="1"/>
          <p:nvPr/>
        </p:nvSpPr>
        <p:spPr>
          <a:xfrm>
            <a:off x="6629400" y="2286000"/>
            <a:ext cx="1920240" cy="548640"/>
          </a:xfrm>
          <a:prstGeom prst="rect">
            <a:avLst/>
          </a:prstGeom>
          <a:noFill/>
          <a:ln/>
        </p:spPr>
        <p:txBody>
          <a:bodyPr wrap="square" lIns="0" tIns="0" rIns="0" bIns="0" rtlCol="0" anchor="t"/>
          <a:lstStyle/>
          <a:p>
            <a:pPr indent="0" marL="0">
              <a:buNone/>
            </a:pPr>
            <a:r>
              <a:rPr lang="en-US" sz="1400" dirty="0">
                <a:solidFill>
                  <a:schemeClr val="tx1"/>
                </a:solidFill>
              </a:rPr>
              <a:t>optimizer solve</a:t>
            </a:r>
            <a:endParaRPr lang="en-US" sz="1400" dirty="0"/>
          </a:p>
        </p:txBody>
      </p:sp>
      <p:sp>
        <p:nvSpPr>
          <p:cNvPr id="15" name="feasibility card 2"/>
          <p:cNvSpPr/>
          <p:nvPr/>
        </p:nvSpPr>
        <p:spPr>
          <a:xfrm>
            <a:off x="9052560" y="1417320"/>
            <a:ext cx="2377440" cy="1554480"/>
          </a:xfrm>
          <a:prstGeom prst="roundRect">
            <a:avLst>
              <a:gd name="adj" fmla="val 7059"/>
            </a:avLst>
          </a:prstGeom>
          <a:solidFill>
            <a:schemeClr val="bg2"/>
          </a:solidFill>
          <a:ln/>
        </p:spPr>
      </p:sp>
      <p:sp>
        <p:nvSpPr>
          <p:cNvPr id="16" name="feas big 2"/>
          <p:cNvSpPr txBox="1"/>
          <p:nvPr/>
        </p:nvSpPr>
        <p:spPr>
          <a:xfrm>
            <a:off x="9281160" y="1600200"/>
            <a:ext cx="1920240" cy="685800"/>
          </a:xfrm>
          <a:prstGeom prst="rect">
            <a:avLst/>
          </a:prstGeom>
          <a:noFill/>
          <a:ln/>
        </p:spPr>
        <p:txBody>
          <a:bodyPr wrap="square" lIns="0" tIns="0" rIns="0" bIns="0" rtlCol="0" anchor="t"/>
          <a:lstStyle/>
          <a:p>
            <a:pPr indent="0" marL="0">
              <a:buNone/>
            </a:pPr>
            <a:r>
              <a:rPr lang="en-US" sz="3000" b="1" dirty="0">
                <a:solidFill>
                  <a:schemeClr val="accent1"/>
                </a:solidFill>
              </a:rPr>
              <a:t>≈ 0.1 ms</a:t>
            </a:r>
            <a:endParaRPr lang="en-US" sz="3000" dirty="0"/>
          </a:p>
        </p:txBody>
      </p:sp>
      <p:sp>
        <p:nvSpPr>
          <p:cNvPr id="17" name="feas label 2"/>
          <p:cNvSpPr txBox="1"/>
          <p:nvPr/>
        </p:nvSpPr>
        <p:spPr>
          <a:xfrm>
            <a:off x="9281160" y="2286000"/>
            <a:ext cx="1920240" cy="548640"/>
          </a:xfrm>
          <a:prstGeom prst="rect">
            <a:avLst/>
          </a:prstGeom>
          <a:noFill/>
          <a:ln/>
        </p:spPr>
        <p:txBody>
          <a:bodyPr wrap="square" lIns="0" tIns="0" rIns="0" bIns="0" rtlCol="0" anchor="t"/>
          <a:lstStyle/>
          <a:p>
            <a:pPr indent="0" marL="0">
              <a:buNone/>
            </a:pPr>
            <a:r>
              <a:rPr lang="en-US" sz="1400" dirty="0">
                <a:solidFill>
                  <a:schemeClr val="tx1"/>
                </a:solidFill>
              </a:rPr>
              <a:t>verifier run</a:t>
            </a:r>
            <a:endParaRPr lang="en-US" sz="1400" dirty="0"/>
          </a:p>
        </p:txBody>
      </p:sp>
      <p:sp>
        <p:nvSpPr>
          <p:cNvPr id="18" name="feasibility card 3"/>
          <p:cNvSpPr/>
          <p:nvPr/>
        </p:nvSpPr>
        <p:spPr>
          <a:xfrm>
            <a:off x="6400800" y="3200400"/>
            <a:ext cx="2377440" cy="1554480"/>
          </a:xfrm>
          <a:prstGeom prst="roundRect">
            <a:avLst>
              <a:gd name="adj" fmla="val 7059"/>
            </a:avLst>
          </a:prstGeom>
          <a:solidFill>
            <a:schemeClr val="bg2"/>
          </a:solidFill>
          <a:ln/>
        </p:spPr>
      </p:sp>
      <p:sp>
        <p:nvSpPr>
          <p:cNvPr id="19" name="feas big 3"/>
          <p:cNvSpPr txBox="1"/>
          <p:nvPr/>
        </p:nvSpPr>
        <p:spPr>
          <a:xfrm>
            <a:off x="6629400" y="3383280"/>
            <a:ext cx="1920240" cy="685800"/>
          </a:xfrm>
          <a:prstGeom prst="rect">
            <a:avLst/>
          </a:prstGeom>
          <a:noFill/>
          <a:ln/>
        </p:spPr>
        <p:txBody>
          <a:bodyPr wrap="square" lIns="0" tIns="0" rIns="0" bIns="0" rtlCol="0" anchor="t"/>
          <a:lstStyle/>
          <a:p>
            <a:pPr indent="0" marL="0">
              <a:buNone/>
            </a:pPr>
            <a:r>
              <a:rPr lang="en-US" sz="3000" b="1" dirty="0">
                <a:solidFill>
                  <a:schemeClr val="accent1"/>
                </a:solidFill>
              </a:rPr>
              <a:t>35</a:t>
            </a:r>
            <a:endParaRPr lang="en-US" sz="3000" dirty="0"/>
          </a:p>
        </p:txBody>
      </p:sp>
      <p:sp>
        <p:nvSpPr>
          <p:cNvPr id="20" name="feas label 3"/>
          <p:cNvSpPr txBox="1"/>
          <p:nvPr/>
        </p:nvSpPr>
        <p:spPr>
          <a:xfrm>
            <a:off x="6629400" y="4069080"/>
            <a:ext cx="1920240" cy="548640"/>
          </a:xfrm>
          <a:prstGeom prst="rect">
            <a:avLst/>
          </a:prstGeom>
          <a:noFill/>
          <a:ln/>
        </p:spPr>
        <p:txBody>
          <a:bodyPr wrap="square" lIns="0" tIns="0" rIns="0" bIns="0" rtlCol="0" anchor="t"/>
          <a:lstStyle/>
          <a:p>
            <a:pPr indent="0" marL="0">
              <a:buNone/>
            </a:pPr>
            <a:r>
              <a:rPr lang="en-US" sz="1400" dirty="0">
                <a:solidFill>
                  <a:schemeClr val="tx1"/>
                </a:solidFill>
              </a:rPr>
              <a:t>automated tests passing</a:t>
            </a:r>
            <a:endParaRPr lang="en-US" sz="1400" dirty="0"/>
          </a:p>
        </p:txBody>
      </p:sp>
      <p:sp>
        <p:nvSpPr>
          <p:cNvPr id="21" name="feasibility card 4"/>
          <p:cNvSpPr/>
          <p:nvPr/>
        </p:nvSpPr>
        <p:spPr>
          <a:xfrm>
            <a:off x="9052560" y="3200400"/>
            <a:ext cx="2377440" cy="1554480"/>
          </a:xfrm>
          <a:prstGeom prst="roundRect">
            <a:avLst>
              <a:gd name="adj" fmla="val 7059"/>
            </a:avLst>
          </a:prstGeom>
          <a:solidFill>
            <a:schemeClr val="bg2"/>
          </a:solidFill>
          <a:ln/>
        </p:spPr>
      </p:sp>
      <p:sp>
        <p:nvSpPr>
          <p:cNvPr id="22" name="feas big 4"/>
          <p:cNvSpPr txBox="1"/>
          <p:nvPr/>
        </p:nvSpPr>
        <p:spPr>
          <a:xfrm>
            <a:off x="9281160" y="3383280"/>
            <a:ext cx="1920240" cy="685800"/>
          </a:xfrm>
          <a:prstGeom prst="rect">
            <a:avLst/>
          </a:prstGeom>
          <a:noFill/>
          <a:ln/>
        </p:spPr>
        <p:txBody>
          <a:bodyPr wrap="square" lIns="0" tIns="0" rIns="0" bIns="0" rtlCol="0" anchor="t"/>
          <a:lstStyle/>
          <a:p>
            <a:pPr indent="0" marL="0">
              <a:buNone/>
            </a:pPr>
            <a:r>
              <a:rPr lang="en-US" sz="3000" b="1" dirty="0">
                <a:solidFill>
                  <a:schemeClr val="accent1"/>
                </a:solidFill>
              </a:rPr>
              <a:t>1 vCPU</a:t>
            </a:r>
            <a:endParaRPr lang="en-US" sz="3000" dirty="0"/>
          </a:p>
        </p:txBody>
      </p:sp>
      <p:sp>
        <p:nvSpPr>
          <p:cNvPr id="23" name="feas label 4"/>
          <p:cNvSpPr txBox="1"/>
          <p:nvPr/>
        </p:nvSpPr>
        <p:spPr>
          <a:xfrm>
            <a:off x="9281160" y="4069080"/>
            <a:ext cx="1920240" cy="548640"/>
          </a:xfrm>
          <a:prstGeom prst="rect">
            <a:avLst/>
          </a:prstGeom>
          <a:noFill/>
          <a:ln/>
        </p:spPr>
        <p:txBody>
          <a:bodyPr wrap="square" lIns="0" tIns="0" rIns="0" bIns="0" rtlCol="0" anchor="t"/>
          <a:lstStyle/>
          <a:p>
            <a:pPr indent="0" marL="0">
              <a:buNone/>
            </a:pPr>
            <a:r>
              <a:rPr lang="en-US" sz="1400" dirty="0">
                <a:solidFill>
                  <a:schemeClr val="tx1"/>
                </a:solidFill>
              </a:rPr>
              <a:t>enough to run the prototype</a:t>
            </a:r>
            <a:endParaRPr lang="en-US" sz="1400" dirty="0"/>
          </a:p>
        </p:txBody>
      </p:sp>
      <p:sp>
        <p:nvSpPr>
          <p:cNvPr id="24" name="not claimed"/>
          <p:cNvSpPr txBox="1"/>
          <p:nvPr/>
        </p:nvSpPr>
        <p:spPr>
          <a:xfrm>
            <a:off x="548640" y="5120640"/>
            <a:ext cx="11064240" cy="548640"/>
          </a:xfrm>
          <a:prstGeom prst="rect">
            <a:avLst/>
          </a:prstGeom>
          <a:noFill/>
          <a:ln/>
        </p:spPr>
        <p:txBody>
          <a:bodyPr wrap="square" lIns="0" tIns="0" rIns="0" bIns="0" rtlCol="0" anchor="t"/>
          <a:lstStyle/>
          <a:p>
            <a:pPr indent="0" marL="0">
              <a:buNone/>
            </a:pPr>
            <a:r>
              <a:rPr lang="en-US" sz="1200" i="1" dirty="0">
                <a:solidFill>
                  <a:schemeClr val="accent5"/>
                </a:solidFill>
              </a:rPr>
              <a:t>Not used and not claimed: Google Cloud Pub/Sub (the event stream is in-process) and the NeuroSAN runtime (the agent pipeline is a custom asyncio DAG inspired by it).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From one simulated island to real community grids</a:t>
            </a:r>
            <a:endParaRPr lang="en-US" sz="3200" dirty="0"/>
          </a:p>
        </p:txBody>
      </p:sp>
      <p:sp>
        <p:nvSpPr>
          <p:cNvPr id="3" name="scales card"/>
          <p:cNvSpPr/>
          <p:nvPr/>
        </p:nvSpPr>
        <p:spPr>
          <a:xfrm>
            <a:off x="548640" y="1371600"/>
            <a:ext cx="5120640" cy="4480560"/>
          </a:xfrm>
          <a:prstGeom prst="roundRect">
            <a:avLst>
              <a:gd name="adj" fmla="val 2449"/>
            </a:avLst>
          </a:prstGeom>
          <a:solidFill>
            <a:schemeClr val="bg2"/>
          </a:solidFill>
          <a:ln/>
        </p:spPr>
      </p:sp>
      <p:sp>
        <p:nvSpPr>
          <p:cNvPr id="4" name="scales circle"/>
          <p:cNvSpPr/>
          <p:nvPr/>
        </p:nvSpPr>
        <p:spPr>
          <a:xfrm>
            <a:off x="822960" y="1645920"/>
            <a:ext cx="731520" cy="731520"/>
          </a:xfrm>
          <a:prstGeom prst="ellipse">
            <a:avLst/>
          </a:prstGeom>
          <a:solidFill>
            <a:srgbClr val="0F9D8A"/>
          </a:solidFill>
          <a:ln/>
        </p:spPr>
      </p:sp>
      <p:pic>
        <p:nvPicPr>
          <p:cNvPr id="5" name="scales icon" descr="preencoded.png">    </p:cNvPr>
          <p:cNvPicPr>
            <a:picLocks noChangeAspect="1"/>
          </p:cNvPicPr>
          <p:nvPr/>
        </p:nvPicPr>
        <p:blipFill>
          <a:blip r:embed="rId1"/>
          <a:stretch>
            <a:fillRect/>
          </a:stretch>
        </p:blipFill>
        <p:spPr>
          <a:xfrm>
            <a:off x="1013155" y="1836115"/>
            <a:ext cx="351130" cy="351130"/>
          </a:xfrm>
          <a:prstGeom prst="rect">
            <a:avLst/>
          </a:prstGeom>
        </p:spPr>
      </p:pic>
      <p:sp>
        <p:nvSpPr>
          <p:cNvPr id="6" name="scales head"/>
          <p:cNvSpPr txBox="1"/>
          <p:nvPr/>
        </p:nvSpPr>
        <p:spPr>
          <a:xfrm>
            <a:off x="1737360" y="1783080"/>
            <a:ext cx="3657600" cy="457200"/>
          </a:xfrm>
          <a:prstGeom prst="rect">
            <a:avLst/>
          </a:prstGeom>
          <a:noFill/>
          <a:ln/>
        </p:spPr>
        <p:txBody>
          <a:bodyPr wrap="square" lIns="0" tIns="0" rIns="0" bIns="0" rtlCol="0" anchor="t"/>
          <a:lstStyle/>
          <a:p>
            <a:pPr indent="0" marL="0">
              <a:buNone/>
            </a:pPr>
            <a:r>
              <a:rPr lang="en-US" sz="2000" b="1" dirty="0">
                <a:solidFill>
                  <a:schemeClr val="tx2"/>
                </a:solidFill>
              </a:rPr>
              <a:t>Built to scale</a:t>
            </a:r>
            <a:endParaRPr lang="en-US" sz="2000" dirty="0"/>
          </a:p>
        </p:txBody>
      </p:sp>
      <p:sp>
        <p:nvSpPr>
          <p:cNvPr id="7" name="scales list"/>
          <p:cNvSpPr txBox="1"/>
          <p:nvPr/>
        </p:nvSpPr>
        <p:spPr>
          <a:xfrm>
            <a:off x="822960" y="2651760"/>
            <a:ext cx="4572000" cy="29260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The network is plain data — a new microgrid is a new data file, not new code</a:t>
            </a:r>
            <a:endParaRPr lang="en-US" sz="1500" dirty="0"/>
          </a:p>
          <a:p>
            <a:pPr marL="342900" indent="-342900">
              <a:spcAft>
                <a:spcPts val="1000"/>
              </a:spcAft>
              <a:buSzPct val="100000"/>
              <a:buChar char="•"/>
            </a:pPr>
            <a:r>
              <a:rPr lang="en-US" sz="1500" dirty="0">
                <a:solidFill>
                  <a:schemeClr val="tx1"/>
                </a:solidFill>
              </a:rPr>
              <a:t>Planning and checking grow polynomially with network size; community grids are small</a:t>
            </a:r>
            <a:endParaRPr lang="en-US" sz="1500" dirty="0"/>
          </a:p>
          <a:p>
            <a:pPr marL="342900" indent="-342900">
              <a:spcAft>
                <a:spcPts val="1000"/>
              </a:spcAft>
              <a:buSzPct val="100000"/>
              <a:buChar char="•"/>
            </a:pPr>
            <a:r>
              <a:rPr lang="en-US" sz="1500" dirty="0">
                <a:solidFill>
                  <a:schemeClr val="tx1"/>
                </a:solidFill>
              </a:rPr>
              <a:t>One isolated Cloud Run service per community</a:t>
            </a:r>
            <a:endParaRPr lang="en-US" sz="1500" dirty="0"/>
          </a:p>
        </p:txBody>
      </p:sp>
      <p:sp>
        <p:nvSpPr>
          <p:cNvPr id="8" name="road dot 1"/>
          <p:cNvSpPr/>
          <p:nvPr/>
        </p:nvSpPr>
        <p:spPr>
          <a:xfrm>
            <a:off x="6217920" y="1490472"/>
            <a:ext cx="384048" cy="384048"/>
          </a:xfrm>
          <a:prstGeom prst="ellipse">
            <a:avLst/>
          </a:prstGeom>
          <a:solidFill>
            <a:srgbClr val="E8A33A"/>
          </a:solidFill>
          <a:ln/>
        </p:spPr>
      </p:sp>
      <p:sp>
        <p:nvSpPr>
          <p:cNvPr id="9" name="road num 1"/>
          <p:cNvSpPr txBox="1"/>
          <p:nvPr/>
        </p:nvSpPr>
        <p:spPr>
          <a:xfrm>
            <a:off x="6217920" y="149047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0" name="road text 1"/>
          <p:cNvSpPr txBox="1"/>
          <p:nvPr/>
        </p:nvSpPr>
        <p:spPr>
          <a:xfrm>
            <a:off x="6812280" y="1417320"/>
            <a:ext cx="4846320" cy="777240"/>
          </a:xfrm>
          <a:prstGeom prst="rect">
            <a:avLst/>
          </a:prstGeom>
          <a:noFill/>
          <a:ln/>
        </p:spPr>
        <p:txBody>
          <a:bodyPr wrap="square" lIns="0" tIns="0" rIns="0" bIns="0" rtlCol="0" anchor="t"/>
          <a:lstStyle/>
          <a:p>
            <a:pPr indent="0" marL="0">
              <a:buNone/>
            </a:pPr>
            <a:r>
              <a:rPr lang="en-US" sz="1400" b="1" dirty="0">
                <a:solidFill>
                  <a:schemeClr val="tx2"/>
                </a:solidFill>
              </a:rPr>
              <a:t>Real telemetry</a:t>
            </a:r>
            <a:endParaRPr lang="en-US" sz="1400" dirty="0"/>
          </a:p>
          <a:p>
            <a:pPr indent="0" marL="0">
              <a:buNone/>
            </a:pPr>
            <a:r>
              <a:rPr lang="en-US" sz="1400" dirty="0">
                <a:solidFill>
                  <a:schemeClr val="tx1"/>
                </a:solidFill>
              </a:rPr>
              <a:t>Pub/Sub or IoT ingestion instead of the simulator</a:t>
            </a:r>
            <a:endParaRPr lang="en-US" sz="1400" dirty="0"/>
          </a:p>
        </p:txBody>
      </p:sp>
      <p:sp>
        <p:nvSpPr>
          <p:cNvPr id="11" name="road dot 2"/>
          <p:cNvSpPr/>
          <p:nvPr/>
        </p:nvSpPr>
        <p:spPr>
          <a:xfrm>
            <a:off x="6217920" y="2377440"/>
            <a:ext cx="384048" cy="384048"/>
          </a:xfrm>
          <a:prstGeom prst="ellipse">
            <a:avLst/>
          </a:prstGeom>
          <a:solidFill>
            <a:srgbClr val="E8A33A"/>
          </a:solidFill>
          <a:ln/>
        </p:spPr>
      </p:sp>
      <p:sp>
        <p:nvSpPr>
          <p:cNvPr id="12" name="road num 2"/>
          <p:cNvSpPr txBox="1"/>
          <p:nvPr/>
        </p:nvSpPr>
        <p:spPr>
          <a:xfrm>
            <a:off x="6217920" y="23774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road text 2"/>
          <p:cNvSpPr txBox="1"/>
          <p:nvPr/>
        </p:nvSpPr>
        <p:spPr>
          <a:xfrm>
            <a:off x="6812280" y="2304288"/>
            <a:ext cx="4846320" cy="777240"/>
          </a:xfrm>
          <a:prstGeom prst="rect">
            <a:avLst/>
          </a:prstGeom>
          <a:noFill/>
          <a:ln/>
        </p:spPr>
        <p:txBody>
          <a:bodyPr wrap="square" lIns="0" tIns="0" rIns="0" bIns="0" rtlCol="0" anchor="t"/>
          <a:lstStyle/>
          <a:p>
            <a:pPr indent="0" marL="0">
              <a:buNone/>
            </a:pPr>
            <a:r>
              <a:rPr lang="en-US" sz="1400" b="1" dirty="0">
                <a:solidFill>
                  <a:schemeClr val="tx2"/>
                </a:solidFill>
              </a:rPr>
              <a:t>Look-ahead planning</a:t>
            </a:r>
            <a:endParaRPr lang="en-US" sz="1400" dirty="0"/>
          </a:p>
          <a:p>
            <a:pPr indent="0" marL="0">
              <a:buNone/>
            </a:pPr>
            <a:r>
              <a:rPr lang="en-US" sz="1400" dirty="0">
                <a:solidFill>
                  <a:schemeClr val="tx1"/>
                </a:solidFill>
              </a:rPr>
              <a:t>multi-hour dispatch so batteries aren't drained too eagerly</a:t>
            </a:r>
            <a:endParaRPr lang="en-US" sz="1400" dirty="0"/>
          </a:p>
        </p:txBody>
      </p:sp>
      <p:sp>
        <p:nvSpPr>
          <p:cNvPr id="14" name="road dot 3"/>
          <p:cNvSpPr/>
          <p:nvPr/>
        </p:nvSpPr>
        <p:spPr>
          <a:xfrm>
            <a:off x="6217920" y="3264408"/>
            <a:ext cx="384048" cy="384048"/>
          </a:xfrm>
          <a:prstGeom prst="ellipse">
            <a:avLst/>
          </a:prstGeom>
          <a:solidFill>
            <a:srgbClr val="E8A33A"/>
          </a:solidFill>
          <a:ln/>
        </p:spPr>
      </p:sp>
      <p:sp>
        <p:nvSpPr>
          <p:cNvPr id="15" name="road num 3"/>
          <p:cNvSpPr txBox="1"/>
          <p:nvPr/>
        </p:nvSpPr>
        <p:spPr>
          <a:xfrm>
            <a:off x="6217920" y="32644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road text 3"/>
          <p:cNvSpPr txBox="1"/>
          <p:nvPr/>
        </p:nvSpPr>
        <p:spPr>
          <a:xfrm>
            <a:off x="6812280" y="3191256"/>
            <a:ext cx="4846320" cy="777240"/>
          </a:xfrm>
          <a:prstGeom prst="rect">
            <a:avLst/>
          </a:prstGeom>
          <a:noFill/>
          <a:ln/>
        </p:spPr>
        <p:txBody>
          <a:bodyPr wrap="square" lIns="0" tIns="0" rIns="0" bIns="0" rtlCol="0" anchor="t"/>
          <a:lstStyle/>
          <a:p>
            <a:pPr indent="0" marL="0">
              <a:buNone/>
            </a:pPr>
            <a:r>
              <a:rPr lang="en-US" sz="1400" b="1" dirty="0">
                <a:solidFill>
                  <a:schemeClr val="tx2"/>
                </a:solidFill>
              </a:rPr>
              <a:t>Fuller physics</a:t>
            </a:r>
            <a:endParaRPr lang="en-US" sz="1400" dirty="0"/>
          </a:p>
          <a:p>
            <a:pPr indent="0" marL="0">
              <a:buNone/>
            </a:pPr>
            <a:r>
              <a:rPr lang="en-US" sz="1400" dirty="0">
                <a:solidFill>
                  <a:schemeClr val="tx1"/>
                </a:solidFill>
              </a:rPr>
              <a:t>voltage and reactive-power checks</a:t>
            </a:r>
            <a:endParaRPr lang="en-US" sz="1400" dirty="0"/>
          </a:p>
        </p:txBody>
      </p:sp>
      <p:sp>
        <p:nvSpPr>
          <p:cNvPr id="17" name="road dot 4"/>
          <p:cNvSpPr/>
          <p:nvPr/>
        </p:nvSpPr>
        <p:spPr>
          <a:xfrm>
            <a:off x="6217920" y="4151376"/>
            <a:ext cx="384048" cy="384048"/>
          </a:xfrm>
          <a:prstGeom prst="ellipse">
            <a:avLst/>
          </a:prstGeom>
          <a:solidFill>
            <a:srgbClr val="E8A33A"/>
          </a:solidFill>
          <a:ln/>
        </p:spPr>
      </p:sp>
      <p:sp>
        <p:nvSpPr>
          <p:cNvPr id="18" name="road num 4"/>
          <p:cNvSpPr txBox="1"/>
          <p:nvPr/>
        </p:nvSpPr>
        <p:spPr>
          <a:xfrm>
            <a:off x="6217920" y="41513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9" name="road text 4"/>
          <p:cNvSpPr txBox="1"/>
          <p:nvPr/>
        </p:nvSpPr>
        <p:spPr>
          <a:xfrm>
            <a:off x="6812280" y="4078224"/>
            <a:ext cx="4846320" cy="777240"/>
          </a:xfrm>
          <a:prstGeom prst="rect">
            <a:avLst/>
          </a:prstGeom>
          <a:noFill/>
          <a:ln/>
        </p:spPr>
        <p:txBody>
          <a:bodyPr wrap="square" lIns="0" tIns="0" rIns="0" bIns="0" rtlCol="0" anchor="t"/>
          <a:lstStyle/>
          <a:p>
            <a:pPr indent="0" marL="0">
              <a:buNone/>
            </a:pPr>
            <a:r>
              <a:rPr lang="en-US" sz="1400" b="1" dirty="0">
                <a:solidFill>
                  <a:schemeClr val="tx2"/>
                </a:solidFill>
              </a:rPr>
              <a:t>Persistent audit trail</a:t>
            </a:r>
            <a:endParaRPr lang="en-US" sz="1400" dirty="0"/>
          </a:p>
          <a:p>
            <a:pPr indent="0" marL="0">
              <a:buNone/>
            </a:pPr>
            <a:r>
              <a:rPr lang="en-US" sz="1400" dirty="0">
                <a:solidFill>
                  <a:schemeClr val="tx1"/>
                </a:solidFill>
              </a:rPr>
              <a:t>e.g. Firestore instead of in-memory records</a:t>
            </a:r>
            <a:endParaRPr lang="en-US" sz="1400" dirty="0"/>
          </a:p>
        </p:txBody>
      </p:sp>
      <p:sp>
        <p:nvSpPr>
          <p:cNvPr id="20" name="road dot 5"/>
          <p:cNvSpPr/>
          <p:nvPr/>
        </p:nvSpPr>
        <p:spPr>
          <a:xfrm>
            <a:off x="6217920" y="5038344"/>
            <a:ext cx="384048" cy="384048"/>
          </a:xfrm>
          <a:prstGeom prst="ellipse">
            <a:avLst/>
          </a:prstGeom>
          <a:solidFill>
            <a:srgbClr val="E8A33A"/>
          </a:solidFill>
          <a:ln/>
        </p:spPr>
      </p:sp>
      <p:sp>
        <p:nvSpPr>
          <p:cNvPr id="21" name="road num 5"/>
          <p:cNvSpPr txBox="1"/>
          <p:nvPr/>
        </p:nvSpPr>
        <p:spPr>
          <a:xfrm>
            <a:off x="6217920" y="50383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2" name="road text 5"/>
          <p:cNvSpPr txBox="1"/>
          <p:nvPr/>
        </p:nvSpPr>
        <p:spPr>
          <a:xfrm>
            <a:off x="6812280" y="4965192"/>
            <a:ext cx="4846320" cy="777240"/>
          </a:xfrm>
          <a:prstGeom prst="rect">
            <a:avLst/>
          </a:prstGeom>
          <a:noFill/>
          <a:ln/>
        </p:spPr>
        <p:txBody>
          <a:bodyPr wrap="square" lIns="0" tIns="0" rIns="0" bIns="0" rtlCol="0" anchor="t"/>
          <a:lstStyle/>
          <a:p>
            <a:pPr indent="0" marL="0">
              <a:buNone/>
            </a:pPr>
            <a:r>
              <a:rPr lang="en-US" sz="1400" b="1" dirty="0">
                <a:solidFill>
                  <a:schemeClr val="tx2"/>
                </a:solidFill>
              </a:rPr>
              <a:t>Field validation</a:t>
            </a:r>
            <a:endParaRPr lang="en-US" sz="1400" dirty="0"/>
          </a:p>
          <a:p>
            <a:pPr indent="0" marL="0">
              <a:buNone/>
            </a:pPr>
            <a:r>
              <a:rPr lang="en-US" sz="1400" dirty="0">
                <a:solidFill>
                  <a:schemeClr val="tx1"/>
                </a:solidFill>
              </a:rPr>
              <a:t>with a utility partner and a power-systems engineer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What this prototype is — and isn't</a:t>
            </a:r>
            <a:endParaRPr lang="en-US" sz="3200" dirty="0"/>
          </a:p>
        </p:txBody>
      </p:sp>
      <p:sp>
        <p:nvSpPr>
          <p:cNvPr id="3" name="is card"/>
          <p:cNvSpPr/>
          <p:nvPr/>
        </p:nvSpPr>
        <p:spPr>
          <a:xfrm>
            <a:off x="548640" y="1371600"/>
            <a:ext cx="5394960" cy="4480560"/>
          </a:xfrm>
          <a:prstGeom prst="roundRect">
            <a:avLst>
              <a:gd name="adj" fmla="val 2449"/>
            </a:avLst>
          </a:prstGeom>
          <a:solidFill>
            <a:schemeClr val="bg2"/>
          </a:solidFill>
          <a:ln/>
        </p:spPr>
      </p:sp>
      <p:sp>
        <p:nvSpPr>
          <p:cNvPr id="4" name="is circle"/>
          <p:cNvSpPr/>
          <p:nvPr/>
        </p:nvSpPr>
        <p:spPr>
          <a:xfrm>
            <a:off x="822960" y="1645920"/>
            <a:ext cx="685800" cy="685800"/>
          </a:xfrm>
          <a:prstGeom prst="ellipse">
            <a:avLst/>
          </a:prstGeom>
          <a:solidFill>
            <a:srgbClr val="1E9E63"/>
          </a:solidFill>
          <a:ln/>
        </p:spPr>
      </p:sp>
      <p:pic>
        <p:nvPicPr>
          <p:cNvPr id="5" name="is icon" descr="preencoded.png">    </p:cNvPr>
          <p:cNvPicPr>
            <a:picLocks noChangeAspect="1"/>
          </p:cNvPicPr>
          <p:nvPr/>
        </p:nvPicPr>
        <p:blipFill>
          <a:blip r:embed="rId1"/>
          <a:stretch>
            <a:fillRect/>
          </a:stretch>
        </p:blipFill>
        <p:spPr>
          <a:xfrm>
            <a:off x="1001268" y="1824228"/>
            <a:ext cx="329184" cy="329184"/>
          </a:xfrm>
          <a:prstGeom prst="rect">
            <a:avLst/>
          </a:prstGeom>
        </p:spPr>
      </p:pic>
      <p:sp>
        <p:nvSpPr>
          <p:cNvPr id="6" name="is head"/>
          <p:cNvSpPr txBox="1"/>
          <p:nvPr/>
        </p:nvSpPr>
        <p:spPr>
          <a:xfrm>
            <a:off x="1691640" y="1755648"/>
            <a:ext cx="4023360" cy="457200"/>
          </a:xfrm>
          <a:prstGeom prst="rect">
            <a:avLst/>
          </a:prstGeom>
          <a:noFill/>
          <a:ln/>
        </p:spPr>
        <p:txBody>
          <a:bodyPr wrap="square" lIns="0" tIns="0" rIns="0" bIns="0" rtlCol="0" anchor="t"/>
          <a:lstStyle/>
          <a:p>
            <a:pPr indent="0" marL="0">
              <a:buNone/>
            </a:pPr>
            <a:r>
              <a:rPr lang="en-US" sz="2000" b="1" dirty="0">
                <a:solidFill>
                  <a:schemeClr val="tx2"/>
                </a:solidFill>
              </a:rPr>
              <a:t>It is</a:t>
            </a:r>
            <a:endParaRPr lang="en-US" sz="2000" dirty="0"/>
          </a:p>
        </p:txBody>
      </p:sp>
      <p:sp>
        <p:nvSpPr>
          <p:cNvPr id="7" name="is list"/>
          <p:cNvSpPr txBox="1"/>
          <p:nvPr/>
        </p:nvSpPr>
        <p:spPr>
          <a:xfrm>
            <a:off x="822960" y="256032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 working simulator with a real optimizer, an independent verifier and replayable audit records</a:t>
            </a:r>
            <a:endParaRPr lang="en-US" sz="1500" dirty="0"/>
          </a:p>
          <a:p>
            <a:pPr marL="342900" indent="-342900">
              <a:spcAft>
                <a:spcPts val="1000"/>
              </a:spcAft>
              <a:buSzPct val="100000"/>
              <a:buChar char="•"/>
            </a:pPr>
            <a:r>
              <a:rPr lang="en-US" sz="1500" dirty="0">
                <a:solidFill>
                  <a:schemeClr val="tx1"/>
                </a:solidFill>
              </a:rPr>
              <a:t>Deterministic: the same inputs give the same verdicts and hashes</a:t>
            </a:r>
            <a:endParaRPr lang="en-US" sz="1500" dirty="0"/>
          </a:p>
          <a:p>
            <a:pPr marL="342900" indent="-342900">
              <a:spcAft>
                <a:spcPts val="1000"/>
              </a:spcAft>
              <a:buSzPct val="100000"/>
              <a:buChar char="•"/>
            </a:pPr>
            <a:r>
              <a:rPr lang="en-US" sz="1500" dirty="0">
                <a:solidFill>
                  <a:schemeClr val="tx1"/>
                </a:solidFill>
              </a:rPr>
              <a:t>Tested: 35 automated tests plus a 300-scenario randomized evaluation</a:t>
            </a:r>
            <a:endParaRPr lang="en-US" sz="1500" dirty="0"/>
          </a:p>
        </p:txBody>
      </p:sp>
      <p:sp>
        <p:nvSpPr>
          <p:cNvPr id="8" name="isnt card"/>
          <p:cNvSpPr/>
          <p:nvPr/>
        </p:nvSpPr>
        <p:spPr>
          <a:xfrm>
            <a:off x="6217920" y="1371600"/>
            <a:ext cx="5394960" cy="4480560"/>
          </a:xfrm>
          <a:prstGeom prst="roundRect">
            <a:avLst>
              <a:gd name="adj" fmla="val 2449"/>
            </a:avLst>
          </a:prstGeom>
          <a:solidFill>
            <a:schemeClr val="bg2"/>
          </a:solidFill>
          <a:ln/>
        </p:spPr>
      </p:sp>
      <p:sp>
        <p:nvSpPr>
          <p:cNvPr id="9" name="isnt circle"/>
          <p:cNvSpPr/>
          <p:nvPr/>
        </p:nvSpPr>
        <p:spPr>
          <a:xfrm>
            <a:off x="6492240" y="1645920"/>
            <a:ext cx="685800" cy="685800"/>
          </a:xfrm>
          <a:prstGeom prst="ellipse">
            <a:avLst/>
          </a:prstGeom>
          <a:solidFill>
            <a:srgbClr val="E8A33A"/>
          </a:solidFill>
          <a:ln/>
        </p:spPr>
      </p:sp>
      <p:pic>
        <p:nvPicPr>
          <p:cNvPr id="10" name="isnt icon" descr="preencoded.png">    </p:cNvPr>
          <p:cNvPicPr>
            <a:picLocks noChangeAspect="1"/>
          </p:cNvPicPr>
          <p:nvPr/>
        </p:nvPicPr>
        <p:blipFill>
          <a:blip r:embed="rId2"/>
          <a:stretch>
            <a:fillRect/>
          </a:stretch>
        </p:blipFill>
        <p:spPr>
          <a:xfrm>
            <a:off x="6670548" y="1824228"/>
            <a:ext cx="329184" cy="329184"/>
          </a:xfrm>
          <a:prstGeom prst="rect">
            <a:avLst/>
          </a:prstGeom>
        </p:spPr>
      </p:pic>
      <p:sp>
        <p:nvSpPr>
          <p:cNvPr id="11" name="isnt head"/>
          <p:cNvSpPr txBox="1"/>
          <p:nvPr/>
        </p:nvSpPr>
        <p:spPr>
          <a:xfrm>
            <a:off x="7360920" y="1755648"/>
            <a:ext cx="4023360" cy="457200"/>
          </a:xfrm>
          <a:prstGeom prst="rect">
            <a:avLst/>
          </a:prstGeom>
          <a:noFill/>
          <a:ln/>
        </p:spPr>
        <p:txBody>
          <a:bodyPr wrap="square" lIns="0" tIns="0" rIns="0" bIns="0" rtlCol="0" anchor="t"/>
          <a:lstStyle/>
          <a:p>
            <a:pPr indent="0" marL="0">
              <a:buNone/>
            </a:pPr>
            <a:r>
              <a:rPr lang="en-US" sz="2000" b="1" dirty="0">
                <a:solidFill>
                  <a:schemeClr val="tx2"/>
                </a:solidFill>
              </a:rPr>
              <a:t>It isn't (yet)</a:t>
            </a:r>
            <a:endParaRPr lang="en-US" sz="2000" dirty="0"/>
          </a:p>
        </p:txBody>
      </p:sp>
      <p:sp>
        <p:nvSpPr>
          <p:cNvPr id="12" name="isnt list"/>
          <p:cNvSpPr txBox="1"/>
          <p:nvPr/>
        </p:nvSpPr>
        <p:spPr>
          <a:xfrm>
            <a:off x="6492240" y="2560320"/>
            <a:ext cx="484632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Connected to real equipment — all data is synthetic</a:t>
            </a:r>
            <a:endParaRPr lang="en-US" sz="1500" dirty="0"/>
          </a:p>
          <a:p>
            <a:pPr marL="342900" indent="-342900">
              <a:spcAft>
                <a:spcPts val="1000"/>
              </a:spcAft>
              <a:buSzPct val="100000"/>
              <a:buChar char="•"/>
            </a:pPr>
            <a:r>
              <a:rPr lang="en-US" sz="1500" dirty="0">
                <a:solidFill>
                  <a:schemeClr val="tx1"/>
                </a:solidFill>
              </a:rPr>
              <a:t>Full physics — lossless DC power flow, one 15-minute interval, no voltage or stability</a:t>
            </a:r>
            <a:endParaRPr lang="en-US" sz="1500" dirty="0"/>
          </a:p>
          <a:p>
            <a:pPr marL="342900" indent="-342900">
              <a:spcAft>
                <a:spcPts val="1000"/>
              </a:spcAft>
              <a:buSzPct val="100000"/>
              <a:buChar char="•"/>
            </a:pPr>
            <a:r>
              <a:rPr lang="en-US" sz="1500" dirty="0">
                <a:solidFill>
                  <a:schemeClr val="tx1"/>
                </a:solidFill>
              </a:rPr>
              <a:t>A formal proof — "certified" means every modeled constraint holds</a:t>
            </a:r>
            <a:endParaRPr lang="en-US" sz="1500" dirty="0"/>
          </a:p>
          <a:p>
            <a:pPr marL="342900" indent="-342900">
              <a:spcAft>
                <a:spcPts val="1000"/>
              </a:spcAft>
              <a:buSzPct val="100000"/>
              <a:buChar char="•"/>
            </a:pPr>
            <a:r>
              <a:rPr lang="en-US" sz="1500" dirty="0">
                <a:solidFill>
                  <a:schemeClr val="tx1"/>
                </a:solidFill>
              </a:rPr>
              <a:t>Tested against a live Gemma endpoint — only mocked responses so far</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640080" y="548640"/>
            <a:ext cx="10881360" cy="914400"/>
          </a:xfrm>
          <a:prstGeom prst="rect">
            <a:avLst/>
          </a:prstGeom>
          <a:noFill/>
          <a:ln/>
        </p:spPr>
        <p:txBody>
          <a:bodyPr wrap="square" lIns="0" tIns="0" rIns="0" bIns="0" rtlCol="0"/>
          <a:lstStyle/>
          <a:p>
            <a:pPr algn="l" indent="0" marL="0">
              <a:buNone/>
            </a:pPr>
            <a:r>
              <a:rPr lang="en-US" sz="3600" b="1" dirty="0">
                <a:solidFill>
                  <a:schemeClr val="bg1"/>
                </a:solidFill>
              </a:rPr>
              <a:t>Who benefits</a:t>
            </a:r>
            <a:endParaRPr lang="en-US" sz="3600" dirty="0"/>
          </a:p>
        </p:txBody>
      </p:sp>
      <p:sp>
        <p:nvSpPr>
          <p:cNvPr id="3" name="benefit 1 circle"/>
          <p:cNvSpPr/>
          <p:nvPr/>
        </p:nvSpPr>
        <p:spPr>
          <a:xfrm>
            <a:off x="640080" y="1737360"/>
            <a:ext cx="822960" cy="822960"/>
          </a:xfrm>
          <a:prstGeom prst="ellipse">
            <a:avLst/>
          </a:prstGeom>
          <a:solidFill>
            <a:srgbClr val="0F9D8A"/>
          </a:solidFill>
          <a:ln/>
        </p:spPr>
      </p:sp>
      <p:pic>
        <p:nvPicPr>
          <p:cNvPr id="4" name="benefit 1 icon" descr="preencoded.png">    </p:cNvPr>
          <p:cNvPicPr>
            <a:picLocks noChangeAspect="1"/>
          </p:cNvPicPr>
          <p:nvPr/>
        </p:nvPicPr>
        <p:blipFill>
          <a:blip r:embed="rId1"/>
          <a:stretch>
            <a:fillRect/>
          </a:stretch>
        </p:blipFill>
        <p:spPr>
          <a:xfrm>
            <a:off x="854050" y="1951330"/>
            <a:ext cx="395021" cy="395021"/>
          </a:xfrm>
          <a:prstGeom prst="rect">
            <a:avLst/>
          </a:prstGeom>
        </p:spPr>
      </p:pic>
      <p:sp>
        <p:nvSpPr>
          <p:cNvPr id="5" name="benefit head 1"/>
          <p:cNvSpPr txBox="1"/>
          <p:nvPr/>
        </p:nvSpPr>
        <p:spPr>
          <a:xfrm>
            <a:off x="640080" y="2788920"/>
            <a:ext cx="3383280" cy="731520"/>
          </a:xfrm>
          <a:prstGeom prst="rect">
            <a:avLst/>
          </a:prstGeom>
          <a:noFill/>
          <a:ln/>
        </p:spPr>
        <p:txBody>
          <a:bodyPr wrap="square" lIns="0" tIns="0" rIns="0" bIns="0" rtlCol="0" anchor="t"/>
          <a:lstStyle/>
          <a:p>
            <a:pPr indent="0" marL="0">
              <a:buNone/>
            </a:pPr>
            <a:r>
              <a:rPr lang="en-US" sz="1900" b="1" dirty="0">
                <a:solidFill>
                  <a:schemeClr val="bg1"/>
                </a:solidFill>
              </a:rPr>
              <a:t>Island &amp; remote communities</a:t>
            </a:r>
            <a:endParaRPr lang="en-US" sz="1900" dirty="0"/>
          </a:p>
        </p:txBody>
      </p:sp>
      <p:sp>
        <p:nvSpPr>
          <p:cNvPr id="6" name="benefit body 1"/>
          <p:cNvSpPr txBox="1"/>
          <p:nvPr/>
        </p:nvSpPr>
        <p:spPr>
          <a:xfrm>
            <a:off x="640080" y="3611880"/>
            <a:ext cx="3291840" cy="1463040"/>
          </a:xfrm>
          <a:prstGeom prst="rect">
            <a:avLst/>
          </a:prstGeom>
          <a:noFill/>
          <a:ln/>
        </p:spPr>
        <p:txBody>
          <a:bodyPr wrap="square" lIns="0" tIns="0" rIns="0" bIns="0" rtlCol="0" anchor="t"/>
          <a:lstStyle/>
          <a:p>
            <a:pPr indent="0" marL="0">
              <a:buNone/>
            </a:pPr>
            <a:r>
              <a:rPr lang="en-US" sz="1600" dirty="0">
                <a:solidFill>
                  <a:schemeClr val="bg2"/>
                </a:solidFill>
              </a:rPr>
              <a:t>Fewer outages of clinics, water and emergency radio during sudden renewable drops — and less diesel burned.</a:t>
            </a:r>
            <a:endParaRPr lang="en-US" sz="1600" dirty="0"/>
          </a:p>
        </p:txBody>
      </p:sp>
      <p:sp>
        <p:nvSpPr>
          <p:cNvPr id="7" name="benefit 2 circle"/>
          <p:cNvSpPr/>
          <p:nvPr/>
        </p:nvSpPr>
        <p:spPr>
          <a:xfrm>
            <a:off x="4389120" y="1737360"/>
            <a:ext cx="822960" cy="822960"/>
          </a:xfrm>
          <a:prstGeom prst="ellipse">
            <a:avLst/>
          </a:prstGeom>
          <a:solidFill>
            <a:srgbClr val="E8A33A"/>
          </a:solidFill>
          <a:ln/>
        </p:spPr>
      </p:sp>
      <p:pic>
        <p:nvPicPr>
          <p:cNvPr id="8" name="benefit 2 icon" descr="preencoded.png">    </p:cNvPr>
          <p:cNvPicPr>
            <a:picLocks noChangeAspect="1"/>
          </p:cNvPicPr>
          <p:nvPr/>
        </p:nvPicPr>
        <p:blipFill>
          <a:blip r:embed="rId2"/>
          <a:stretch>
            <a:fillRect/>
          </a:stretch>
        </p:blipFill>
        <p:spPr>
          <a:xfrm>
            <a:off x="4603090" y="1951330"/>
            <a:ext cx="395021" cy="395021"/>
          </a:xfrm>
          <a:prstGeom prst="rect">
            <a:avLst/>
          </a:prstGeom>
        </p:spPr>
      </p:pic>
      <p:sp>
        <p:nvSpPr>
          <p:cNvPr id="9" name="benefit head 2"/>
          <p:cNvSpPr txBox="1"/>
          <p:nvPr/>
        </p:nvSpPr>
        <p:spPr>
          <a:xfrm>
            <a:off x="4389120" y="2788920"/>
            <a:ext cx="3383280" cy="731520"/>
          </a:xfrm>
          <a:prstGeom prst="rect">
            <a:avLst/>
          </a:prstGeom>
          <a:noFill/>
          <a:ln/>
        </p:spPr>
        <p:txBody>
          <a:bodyPr wrap="square" lIns="0" tIns="0" rIns="0" bIns="0" rtlCol="0" anchor="t"/>
          <a:lstStyle/>
          <a:p>
            <a:pPr indent="0" marL="0">
              <a:buNone/>
            </a:pPr>
            <a:r>
              <a:rPr lang="en-US" sz="1900" b="1" dirty="0">
                <a:solidFill>
                  <a:schemeClr val="bg1"/>
                </a:solidFill>
              </a:rPr>
              <a:t>Microgrid operators</a:t>
            </a:r>
            <a:endParaRPr lang="en-US" sz="1900" dirty="0"/>
          </a:p>
        </p:txBody>
      </p:sp>
      <p:sp>
        <p:nvSpPr>
          <p:cNvPr id="10" name="benefit body 2"/>
          <p:cNvSpPr txBox="1"/>
          <p:nvPr/>
        </p:nvSpPr>
        <p:spPr>
          <a:xfrm>
            <a:off x="4389120" y="3611880"/>
            <a:ext cx="3291840" cy="1463040"/>
          </a:xfrm>
          <a:prstGeom prst="rect">
            <a:avLst/>
          </a:prstGeom>
          <a:noFill/>
          <a:ln/>
        </p:spPr>
        <p:txBody>
          <a:bodyPr wrap="square" lIns="0" tIns="0" rIns="0" bIns="0" rtlCol="0" anchor="t"/>
          <a:lstStyle/>
          <a:p>
            <a:pPr indent="0" marL="0">
              <a:buNone/>
            </a:pPr>
            <a:r>
              <a:rPr lang="en-US" sz="1600" dirty="0">
                <a:solidFill>
                  <a:schemeClr val="bg2"/>
                </a:solidFill>
              </a:rPr>
              <a:t>A second check that explains exactly why a plan is unsafe before anything is switched.</a:t>
            </a:r>
            <a:endParaRPr lang="en-US" sz="1600" dirty="0"/>
          </a:p>
        </p:txBody>
      </p:sp>
      <p:sp>
        <p:nvSpPr>
          <p:cNvPr id="11" name="benefit 3 circle"/>
          <p:cNvSpPr/>
          <p:nvPr/>
        </p:nvSpPr>
        <p:spPr>
          <a:xfrm>
            <a:off x="8138160" y="1737360"/>
            <a:ext cx="822960" cy="822960"/>
          </a:xfrm>
          <a:prstGeom prst="ellipse">
            <a:avLst/>
          </a:prstGeom>
          <a:solidFill>
            <a:srgbClr val="6E5FD0"/>
          </a:solidFill>
          <a:ln/>
        </p:spPr>
      </p:sp>
      <p:pic>
        <p:nvPicPr>
          <p:cNvPr id="12" name="benefit 3 icon" descr="preencoded.png">    </p:cNvPr>
          <p:cNvPicPr>
            <a:picLocks noChangeAspect="1"/>
          </p:cNvPicPr>
          <p:nvPr/>
        </p:nvPicPr>
        <p:blipFill>
          <a:blip r:embed="rId3"/>
          <a:stretch>
            <a:fillRect/>
          </a:stretch>
        </p:blipFill>
        <p:spPr>
          <a:xfrm>
            <a:off x="8352130" y="1951330"/>
            <a:ext cx="395021" cy="395021"/>
          </a:xfrm>
          <a:prstGeom prst="rect">
            <a:avLst/>
          </a:prstGeom>
        </p:spPr>
      </p:pic>
      <p:sp>
        <p:nvSpPr>
          <p:cNvPr id="13" name="benefit head 3"/>
          <p:cNvSpPr txBox="1"/>
          <p:nvPr/>
        </p:nvSpPr>
        <p:spPr>
          <a:xfrm>
            <a:off x="8138160" y="2788920"/>
            <a:ext cx="3383280" cy="731520"/>
          </a:xfrm>
          <a:prstGeom prst="rect">
            <a:avLst/>
          </a:prstGeom>
          <a:noFill/>
          <a:ln/>
        </p:spPr>
        <p:txBody>
          <a:bodyPr wrap="square" lIns="0" tIns="0" rIns="0" bIns="0" rtlCol="0" anchor="t"/>
          <a:lstStyle/>
          <a:p>
            <a:pPr indent="0" marL="0">
              <a:buNone/>
            </a:pPr>
            <a:r>
              <a:rPr lang="en-US" sz="1900" b="1" dirty="0">
                <a:solidFill>
                  <a:schemeClr val="bg1"/>
                </a:solidFill>
              </a:rPr>
              <a:t>Anyone adding AI to infrastructure</a:t>
            </a:r>
            <a:endParaRPr lang="en-US" sz="1900" dirty="0"/>
          </a:p>
        </p:txBody>
      </p:sp>
      <p:sp>
        <p:nvSpPr>
          <p:cNvPr id="14" name="benefit body 3"/>
          <p:cNvSpPr txBox="1"/>
          <p:nvPr/>
        </p:nvSpPr>
        <p:spPr>
          <a:xfrm>
            <a:off x="8138160" y="3611880"/>
            <a:ext cx="3291840" cy="1463040"/>
          </a:xfrm>
          <a:prstGeom prst="rect">
            <a:avLst/>
          </a:prstGeom>
          <a:noFill/>
          <a:ln/>
        </p:spPr>
        <p:txBody>
          <a:bodyPr wrap="square" lIns="0" tIns="0" rIns="0" bIns="0" rtlCol="0" anchor="t"/>
          <a:lstStyle/>
          <a:p>
            <a:pPr indent="0" marL="0">
              <a:buNone/>
            </a:pPr>
            <a:r>
              <a:rPr lang="en-US" sz="1600" dirty="0">
                <a:solidFill>
                  <a:schemeClr val="bg2"/>
                </a:solidFill>
              </a:rPr>
              <a:t>A working pattern: AI handles messy human context, a deterministic check has the final say.</a:t>
            </a:r>
            <a:endParaRPr lang="en-US" sz="1600" dirty="0"/>
          </a:p>
        </p:txBody>
      </p:sp>
      <p:sp>
        <p:nvSpPr>
          <p:cNvPr id="15" name="closing tagline"/>
          <p:cNvSpPr txBox="1"/>
          <p:nvPr/>
        </p:nvSpPr>
        <p:spPr>
          <a:xfrm>
            <a:off x="640080" y="5212080"/>
            <a:ext cx="10881360" cy="457200"/>
          </a:xfrm>
          <a:prstGeom prst="rect">
            <a:avLst/>
          </a:prstGeom>
          <a:noFill/>
          <a:ln/>
        </p:spPr>
        <p:txBody>
          <a:bodyPr wrap="square" lIns="0" tIns="0" rIns="0" bIns="0" rtlCol="0" anchor="t"/>
          <a:lstStyle/>
          <a:p>
            <a:pPr indent="0" marL="0">
              <a:buNone/>
            </a:pPr>
            <a:r>
              <a:rPr lang="en-US" sz="2000" b="1" i="1" dirty="0">
                <a:solidFill>
                  <a:schemeClr val="accent2"/>
                </a:solidFill>
              </a:rPr>
              <a:t>Gemma reads the context · OR-Tools plans · an independent verifier decides</a:t>
            </a:r>
            <a:endParaRPr lang="en-US" sz="2000" dirty="0"/>
          </a:p>
        </p:txBody>
      </p:sp>
      <p:sp>
        <p:nvSpPr>
          <p:cNvPr id="16" name="repo"/>
          <p:cNvSpPr txBox="1"/>
          <p:nvPr/>
        </p:nvSpPr>
        <p:spPr>
          <a:xfrm>
            <a:off x="640080" y="5760720"/>
            <a:ext cx="10881360" cy="365760"/>
          </a:xfrm>
          <a:prstGeom prst="rect">
            <a:avLst/>
          </a:prstGeom>
          <a:noFill/>
          <a:ln/>
        </p:spPr>
        <p:txBody>
          <a:bodyPr wrap="square" lIns="0" tIns="0" rIns="0" bIns="0" rtlCol="0" anchor="t"/>
          <a:lstStyle/>
          <a:p>
            <a:pPr indent="0" marL="0">
              <a:buNone/>
            </a:pPr>
            <a:r>
              <a:rPr lang="en-US" sz="1400" dirty="0">
                <a:solidFill>
                  <a:schemeClr val="bg2"/>
                </a:solidFill>
              </a:rPr>
              <a:t>github.com/souzataniya/SynapseGrid</a:t>
            </a:r>
            <a:endParaRPr lang="en-US" sz="1400" dirty="0"/>
          </a:p>
        </p:txBody>
      </p:sp>
    </p:spTree>
  </p:cSld>
  <p:clrMapOvr>
    <a:masterClrMapping/>
  </p:clrMapOvr>
</p:sld>
</file>

<file path=ppt/theme/theme1.xml><?xml version="1.0" encoding="utf-8"?>
<a:theme xmlns:a="http://schemas.openxmlformats.org/drawingml/2006/main" name="SynapseGrid">
  <a:themeElements>
    <a:clrScheme name="SynapseGrid">
      <a:dk1>
        <a:srgbClr val="0B1220"/>
      </a:dk1>
      <a:lt1>
        <a:srgbClr val="FFFFFF"/>
      </a:lt1>
      <a:dk2>
        <a:srgbClr val="0E2A3D"/>
      </a:dk2>
      <a:lt2>
        <a:srgbClr val="EEF3F6"/>
      </a:lt2>
      <a:accent1>
        <a:srgbClr val="0F9D8A"/>
      </a:accent1>
      <a:accent2>
        <a:srgbClr val="E8A33A"/>
      </a:accent2>
      <a:accent3>
        <a:srgbClr val="D9474C"/>
      </a:accent3>
      <a:accent4>
        <a:srgbClr val="6E5FD0"/>
      </a:accent4>
      <a:accent5>
        <a:srgbClr val="5B6B7A"/>
      </a:accent5>
      <a:accent6>
        <a:srgbClr val="1E9E63"/>
      </a:accent6>
      <a:hlink>
        <a:srgbClr val="0F9D8A"/>
      </a:hlink>
      <a:folHlink>
        <a:srgbClr val="6E5FD0"/>
      </a:folHlink>
    </a:clrScheme>
    <a:fontScheme name="SynapseGri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SynapseGrid — Google Cloud AI Builder Cup proposal</dc:title>
  <dc:subject>PptxGenJS Presentation</dc:subject>
  <dc:creator>SynapseGrid team</dc:creator>
  <cp:lastModifiedBy>SynapseGrid team</cp:lastModifiedBy>
  <cp:revision>1</cp:revision>
  <dcterms:created xsi:type="dcterms:W3CDTF">2026-10-18T17:03:35Z</dcterms:created>
  <dcterms:modified xsi:type="dcterms:W3CDTF">2026-10-18T17:03:35Z</dcterms:modified>
</cp:coreProperties>
</file>